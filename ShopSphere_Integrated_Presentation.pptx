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shopsphere_brand_card.png"/>
          <p:cNvPicPr>
            <a:picLocks noChangeAspect="1"/>
          </p:cNvPicPr>
          <p:nvPr/>
        </p:nvPicPr>
        <p:blipFill>
          <a:blip r:embed="rId2"/>
          <a:stretch>
            <a:fillRect/>
          </a:stretch>
        </p:blipFill>
        <p:spPr>
          <a:xfrm>
            <a:off x="822960" y="822960"/>
            <a:ext cx="5120640" cy="5120640"/>
          </a:xfrm>
          <a:prstGeom prst="rect">
            <a:avLst/>
          </a:prstGeom>
        </p:spPr>
      </p:pic>
      <p:sp>
        <p:nvSpPr>
          <p:cNvPr id="4" name="TextBox 3"/>
          <p:cNvSpPr txBox="1"/>
          <p:nvPr/>
        </p:nvSpPr>
        <p:spPr>
          <a:xfrm>
            <a:off x="6400800" y="822960"/>
            <a:ext cx="5029200" cy="5212080"/>
          </a:xfrm>
          <a:prstGeom prst="rect">
            <a:avLst/>
          </a:prstGeom>
          <a:noFill/>
        </p:spPr>
        <p:txBody>
          <a:bodyPr wrap="square" lIns="0" tIns="0" rIns="0" bIns="0">
            <a:spAutoFit/>
          </a:bodyPr>
          <a:lstStyle/>
          <a:p>
            <a:pPr>
              <a:defRPr sz="1000" b="1">
                <a:solidFill>
                  <a:srgbClr val="EA580C"/>
                </a:solidFill>
                <a:latin typeface="Helvetica Neue"/>
              </a:defRPr>
            </a:pPr>
            <a:r>
              <a:t>MCA INTEGRATED PROJECT  |  AWT</a:t>
            </a:r>
          </a:p>
          <a:p>
            <a:pPr>
              <a:spcBef>
                <a:spcPts val="800"/>
              </a:spcBef>
              <a:defRPr sz="3600" b="1">
                <a:solidFill>
                  <a:srgbClr val="111827"/>
                </a:solidFill>
                <a:latin typeface="Helvetica Neue"/>
              </a:defRPr>
            </a:pPr>
            <a:r>
              <a:t>ShopSphere</a:t>
            </a:r>
          </a:p>
          <a:p>
            <a:pPr>
              <a:spcBef>
                <a:spcPts val="600"/>
              </a:spcBef>
              <a:spcAft>
                <a:spcPts val="2000"/>
              </a:spcAft>
              <a:defRPr sz="1300">
                <a:solidFill>
                  <a:srgbClr val="4B5563"/>
                </a:solidFill>
                <a:latin typeface="Helvetica Neue"/>
              </a:defRPr>
            </a:pPr>
            <a:r>
              <a:t>A Scalable, Dual-Persistence Full-Stack E-Commerce Platform with Simulated Payment Gateway &amp; Serverless Deployment</a:t>
            </a:r>
          </a:p>
          <a:p>
            <a:pPr>
              <a:spcAft>
                <a:spcPts val="800"/>
              </a:spcAft>
              <a:defRPr sz="950" b="1">
                <a:solidFill>
                  <a:srgbClr val="9CA3AF"/>
                </a:solidFill>
                <a:latin typeface="Helvetica Neue"/>
              </a:defRPr>
            </a:pPr>
            <a:r>
              <a:t>PROJECT TEAM (BY ENROLLMENT NO.)</a:t>
            </a:r>
          </a:p>
          <a:p>
            <a:pPr>
              <a:spcAft>
                <a:spcPts val="400"/>
              </a:spcAft>
            </a:pPr>
            <a:r>
              <a:rPr sz="1100" b="1">
                <a:solidFill>
                  <a:srgbClr val="111827"/>
                </a:solidFill>
                <a:latin typeface="Helvetica Neue"/>
              </a:rPr>
              <a:t>A010145025006   </a:t>
            </a:r>
            <a:r>
              <a:rPr sz="1100" b="1">
                <a:solidFill>
                  <a:srgbClr val="111827"/>
                </a:solidFill>
                <a:latin typeface="Helvetica Neue"/>
              </a:rPr>
              <a:t>ABHISHEK GHOSH   </a:t>
            </a:r>
            <a:r>
              <a:rPr sz="1000">
                <a:solidFill>
                  <a:srgbClr val="9CA3AF"/>
                </a:solidFill>
                <a:latin typeface="Helvetica Neue"/>
              </a:rPr>
              <a:t>—  Backend &amp; PayNova Gateway</a:t>
            </a:r>
          </a:p>
          <a:p>
            <a:pPr>
              <a:spcAft>
                <a:spcPts val="400"/>
              </a:spcAft>
            </a:pPr>
            <a:r>
              <a:rPr sz="1100" b="1">
                <a:solidFill>
                  <a:srgbClr val="111827"/>
                </a:solidFill>
                <a:latin typeface="Helvetica Neue"/>
              </a:rPr>
              <a:t>A010145025015   </a:t>
            </a:r>
            <a:r>
              <a:rPr sz="1100" b="1">
                <a:solidFill>
                  <a:srgbClr val="111827"/>
                </a:solidFill>
                <a:latin typeface="Helvetica Neue"/>
              </a:rPr>
              <a:t>SATYAM CHAUDHARY   </a:t>
            </a:r>
            <a:r>
              <a:rPr sz="1000">
                <a:solidFill>
                  <a:srgbClr val="9CA3AF"/>
                </a:solidFill>
                <a:latin typeface="Helvetica Neue"/>
              </a:rPr>
              <a:t>—  Database &amp; Order Lifecycle</a:t>
            </a:r>
          </a:p>
          <a:p>
            <a:pPr>
              <a:spcAft>
                <a:spcPts val="400"/>
              </a:spcAft>
            </a:pPr>
            <a:r>
              <a:rPr sz="1100" b="1">
                <a:solidFill>
                  <a:srgbClr val="111827"/>
                </a:solidFill>
                <a:latin typeface="Helvetica Neue"/>
              </a:rPr>
              <a:t>A010145025019   </a:t>
            </a:r>
            <a:r>
              <a:rPr sz="1100" b="1">
                <a:solidFill>
                  <a:srgbClr val="111827"/>
                </a:solidFill>
                <a:latin typeface="Helvetica Neue"/>
              </a:rPr>
              <a:t>SARBANANDA TAW   </a:t>
            </a:r>
            <a:r>
              <a:rPr sz="1000">
                <a:solidFill>
                  <a:srgbClr val="9CA3AF"/>
                </a:solidFill>
                <a:latin typeface="Helvetica Neue"/>
              </a:rPr>
              <a:t>—  System Architecture &amp; Docs Lead</a:t>
            </a:r>
          </a:p>
          <a:p>
            <a:pPr>
              <a:spcAft>
                <a:spcPts val="400"/>
              </a:spcAft>
            </a:pPr>
            <a:r>
              <a:rPr sz="1100" b="1">
                <a:solidFill>
                  <a:srgbClr val="111827"/>
                </a:solidFill>
                <a:latin typeface="Helvetica Neue"/>
              </a:rPr>
              <a:t>A010145025044   </a:t>
            </a:r>
            <a:r>
              <a:rPr sz="1100" b="1">
                <a:solidFill>
                  <a:srgbClr val="111827"/>
                </a:solidFill>
                <a:latin typeface="Helvetica Neue"/>
              </a:rPr>
              <a:t>RAJA TEOTIA   </a:t>
            </a:r>
            <a:r>
              <a:rPr sz="1000">
                <a:solidFill>
                  <a:srgbClr val="9CA3AF"/>
                </a:solidFill>
                <a:latin typeface="Helvetica Neue"/>
              </a:rPr>
              <a:t>—  Frontend UI/UX &amp; Theming</a:t>
            </a:r>
          </a:p>
          <a:p>
            <a:pPr>
              <a:spcAft>
                <a:spcPts val="400"/>
              </a:spcAft>
            </a:pPr>
            <a:r>
              <a:rPr sz="1100" b="1">
                <a:solidFill>
                  <a:srgbClr val="111827"/>
                </a:solidFill>
                <a:latin typeface="Helvetica Neue"/>
              </a:rPr>
              <a:t>A010145025054   </a:t>
            </a:r>
            <a:r>
              <a:rPr sz="1100" b="1">
                <a:solidFill>
                  <a:srgbClr val="111827"/>
                </a:solidFill>
                <a:latin typeface="Helvetica Neue"/>
              </a:rPr>
              <a:t>ABHISHEK KUMAR   </a:t>
            </a:r>
            <a:r>
              <a:rPr sz="1000">
                <a:solidFill>
                  <a:srgbClr val="9CA3AF"/>
                </a:solidFill>
                <a:latin typeface="Helvetica Neue"/>
              </a:rPr>
              <a:t>—  Security, Auth &amp; QA (71 Tests)</a:t>
            </a:r>
          </a:p>
          <a:p>
            <a:pPr>
              <a:spcBef>
                <a:spcPts val="1600"/>
              </a:spcBef>
              <a:defRPr sz="1050">
                <a:solidFill>
                  <a:srgbClr val="9CA3AF"/>
                </a:solidFill>
                <a:latin typeface="Helvetica Neue"/>
              </a:defRPr>
            </a:pPr>
            <a:r>
              <a:t>Under the Guidance of: [Faculty Guide Name], [Designation]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11480"/>
            <a:ext cx="7315200" cy="274320"/>
          </a:xfrm>
          <a:prstGeom prst="rect">
            <a:avLst/>
          </a:prstGeom>
          <a:noFill/>
        </p:spPr>
        <p:txBody>
          <a:bodyPr wrap="none" lIns="0" tIns="0" rIns="0" bIns="0">
            <a:spAutoFit/>
          </a:bodyPr>
          <a:lstStyle/>
          <a:p>
            <a:pPr>
              <a:defRPr sz="950" b="0">
                <a:solidFill>
                  <a:srgbClr val="9CA3AF"/>
                </a:solidFill>
                <a:latin typeface="Helvetica Neue"/>
              </a:defRPr>
            </a:pPr>
            <a:r>
              <a:t>ShopSphere 2026   |   Introduction</a:t>
            </a:r>
          </a:p>
        </p:txBody>
      </p:sp>
      <p:sp>
        <p:nvSpPr>
          <p:cNvPr id="4" name="TextBox 3"/>
          <p:cNvSpPr txBox="1"/>
          <p:nvPr/>
        </p:nvSpPr>
        <p:spPr>
          <a:xfrm>
            <a:off x="10972800" y="411480"/>
            <a:ext cx="457200" cy="274320"/>
          </a:xfrm>
          <a:prstGeom prst="rect">
            <a:avLst/>
          </a:prstGeom>
          <a:noFill/>
        </p:spPr>
        <p:txBody>
          <a:bodyPr wrap="none" lIns="0" tIns="0" rIns="0" bIns="0">
            <a:spAutoFit/>
          </a:bodyPr>
          <a:lstStyle/>
          <a:p>
            <a:pPr algn="r">
              <a:defRPr sz="1000" b="1">
                <a:solidFill>
                  <a:srgbClr val="9CA3AF"/>
                </a:solidFill>
                <a:latin typeface="Helvetica Neue"/>
              </a:defRPr>
            </a:pPr>
            <a:r>
              <a:t>02</a:t>
            </a:r>
          </a:p>
        </p:txBody>
      </p:sp>
      <p:sp>
        <p:nvSpPr>
          <p:cNvPr id="5" name="TextBox 4"/>
          <p:cNvSpPr txBox="1"/>
          <p:nvPr/>
        </p:nvSpPr>
        <p:spPr>
          <a:xfrm>
            <a:off x="822960" y="914400"/>
            <a:ext cx="10515600" cy="1005840"/>
          </a:xfrm>
          <a:prstGeom prst="rect">
            <a:avLst/>
          </a:prstGeom>
          <a:noFill/>
        </p:spPr>
        <p:txBody>
          <a:bodyPr wrap="square">
            <a:spAutoFit/>
          </a:bodyPr>
          <a:lstStyle/>
          <a:p>
            <a:pPr>
              <a:defRPr sz="2800" b="1">
                <a:solidFill>
                  <a:srgbClr val="111827"/>
                </a:solidFill>
                <a:latin typeface="Helvetica Neue"/>
              </a:defRPr>
            </a:pPr>
            <a:r>
              <a:t>Accelerating modern e-commerce through cloud-native serverless architecture.</a:t>
            </a:r>
          </a:p>
        </p:txBody>
      </p:sp>
      <p:sp>
        <p:nvSpPr>
          <p:cNvPr id="6" name="TextBox 5"/>
          <p:cNvSpPr txBox="1"/>
          <p:nvPr/>
        </p:nvSpPr>
        <p:spPr>
          <a:xfrm>
            <a:off x="822960" y="2103120"/>
            <a:ext cx="4937760" cy="4114800"/>
          </a:xfrm>
          <a:prstGeom prst="rect">
            <a:avLst/>
          </a:prstGeom>
          <a:noFill/>
        </p:spPr>
        <p:txBody>
          <a:bodyPr wrap="square">
            <a:spAutoFit/>
          </a:bodyPr>
          <a:lstStyle/>
          <a:p>
            <a:pPr>
              <a:spcAft>
                <a:spcPts val="1000"/>
              </a:spcAft>
              <a:defRPr sz="1400" b="1">
                <a:solidFill>
                  <a:srgbClr val="111827"/>
                </a:solidFill>
                <a:latin typeface="Helvetica Neue"/>
              </a:defRPr>
            </a:pPr>
            <a:r>
              <a:t>The Modern Landscape &amp; Serverless Paradox</a:t>
            </a:r>
          </a:p>
          <a:p>
            <a:pPr>
              <a:lnSpc>
                <a:spcPct val="130000"/>
              </a:lnSpc>
              <a:defRPr sz="1200">
                <a:solidFill>
                  <a:srgbClr val="4B5563"/>
                </a:solidFill>
                <a:latin typeface="Helvetica Neue"/>
              </a:defRPr>
            </a:pPr>
            <a:r>
              <a:t>As digital retail transitions from monolithic infrastructures to serverless environments, applications gain rapid scalability and zero idle hosting costs. However, serverless execution sandboxes (such as Vercel and AWS Lambda) enforce strictly ephemeral, read-only file systems (/var/task).</a:t>
            </a:r>
            <a:br/>
            <a:br/>
            <a:r>
              <a:t>Traditional embedded databases like SQLite, while optimal for local development and lightning-fast unit testing, cannot maintain persistent state across cold-start serverless container lifecycles. This creates an architectural friction between fast local iteration and reliable cloud persistence.</a:t>
            </a:r>
          </a:p>
        </p:txBody>
      </p:sp>
      <p:sp>
        <p:nvSpPr>
          <p:cNvPr id="7" name="TextBox 6"/>
          <p:cNvSpPr txBox="1"/>
          <p:nvPr/>
        </p:nvSpPr>
        <p:spPr>
          <a:xfrm>
            <a:off x="6309360" y="2103120"/>
            <a:ext cx="5029200" cy="4114800"/>
          </a:xfrm>
          <a:prstGeom prst="rect">
            <a:avLst/>
          </a:prstGeom>
          <a:noFill/>
        </p:spPr>
        <p:txBody>
          <a:bodyPr wrap="square">
            <a:spAutoFit/>
          </a:bodyPr>
          <a:lstStyle/>
          <a:p>
            <a:pPr>
              <a:spcAft>
                <a:spcPts val="1000"/>
              </a:spcAft>
              <a:defRPr sz="1400" b="1">
                <a:solidFill>
                  <a:srgbClr val="EA580C"/>
                </a:solidFill>
                <a:latin typeface="Helvetica Neue"/>
              </a:defRPr>
            </a:pPr>
            <a:r>
              <a:t>The ShopSphere Architectural Breakthrough</a:t>
            </a:r>
          </a:p>
          <a:p>
            <a:pPr>
              <a:lnSpc>
                <a:spcPct val="130000"/>
              </a:lnSpc>
              <a:defRPr sz="1200">
                <a:solidFill>
                  <a:srgbClr val="4B5563"/>
                </a:solidFill>
                <a:latin typeface="Helvetica Neue"/>
              </a:defRPr>
            </a:pPr>
            <a:r>
              <a:t>ShopSphere resolves this contradiction by introducing an intelligent dual-mode data access layer (database.py). During automated test execution and offline development, the system routes queries to an isolated local SQLite engine, maintaining 100% test isolation with zero network overhead.</a:t>
            </a:r>
            <a:br/>
            <a:br/>
            <a:r>
              <a:t>In production, the application transparently connects over encrypted WebSockets to Turso (libSQL) cloud database hosted on AWS Mumbai (ap-south-1). Paired with an end-to-end simulated banking gateway (PayNova), ShopSphere delivers an enterprise-grade retail experience with deterministic reliability.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11480"/>
            <a:ext cx="7315200" cy="274320"/>
          </a:xfrm>
          <a:prstGeom prst="rect">
            <a:avLst/>
          </a:prstGeom>
          <a:noFill/>
        </p:spPr>
        <p:txBody>
          <a:bodyPr wrap="none" lIns="0" tIns="0" rIns="0" bIns="0">
            <a:spAutoFit/>
          </a:bodyPr>
          <a:lstStyle/>
          <a:p>
            <a:pPr>
              <a:defRPr sz="950" b="0">
                <a:solidFill>
                  <a:srgbClr val="9CA3AF"/>
                </a:solidFill>
                <a:latin typeface="Helvetica Neue"/>
              </a:defRPr>
            </a:pPr>
            <a:r>
              <a:t>ShopSphere 2026   |   Abstract &amp; Impact</a:t>
            </a:r>
          </a:p>
        </p:txBody>
      </p:sp>
      <p:sp>
        <p:nvSpPr>
          <p:cNvPr id="4" name="TextBox 3"/>
          <p:cNvSpPr txBox="1"/>
          <p:nvPr/>
        </p:nvSpPr>
        <p:spPr>
          <a:xfrm>
            <a:off x="10972800" y="411480"/>
            <a:ext cx="457200" cy="274320"/>
          </a:xfrm>
          <a:prstGeom prst="rect">
            <a:avLst/>
          </a:prstGeom>
          <a:noFill/>
        </p:spPr>
        <p:txBody>
          <a:bodyPr wrap="none" lIns="0" tIns="0" rIns="0" bIns="0">
            <a:spAutoFit/>
          </a:bodyPr>
          <a:lstStyle/>
          <a:p>
            <a:pPr algn="r">
              <a:defRPr sz="1000" b="1">
                <a:solidFill>
                  <a:srgbClr val="9CA3AF"/>
                </a:solidFill>
                <a:latin typeface="Helvetica Neue"/>
              </a:defRPr>
            </a:pPr>
            <a:r>
              <a:t>03</a:t>
            </a:r>
          </a:p>
        </p:txBody>
      </p:sp>
      <p:sp>
        <p:nvSpPr>
          <p:cNvPr id="5" name="TextBox 4"/>
          <p:cNvSpPr txBox="1"/>
          <p:nvPr/>
        </p:nvSpPr>
        <p:spPr>
          <a:xfrm>
            <a:off x="822960" y="914400"/>
            <a:ext cx="10515600" cy="914400"/>
          </a:xfrm>
          <a:prstGeom prst="rect">
            <a:avLst/>
          </a:prstGeom>
          <a:noFill/>
        </p:spPr>
        <p:txBody>
          <a:bodyPr wrap="none">
            <a:spAutoFit/>
          </a:bodyPr>
          <a:lstStyle/>
          <a:p>
            <a:pPr>
              <a:defRPr sz="2800" b="1">
                <a:solidFill>
                  <a:srgbClr val="111827"/>
                </a:solidFill>
                <a:latin typeface="Helvetica Neue"/>
              </a:defRPr>
            </a:pPr>
            <a:r>
              <a:t>A full-stack architecture built for verifiable reliability and zero-cost cloud delivery.</a:t>
            </a:r>
          </a:p>
        </p:txBody>
      </p:sp>
      <p:sp>
        <p:nvSpPr>
          <p:cNvPr id="6" name="TextBox 5"/>
          <p:cNvSpPr txBox="1"/>
          <p:nvPr/>
        </p:nvSpPr>
        <p:spPr>
          <a:xfrm>
            <a:off x="822960" y="2011680"/>
            <a:ext cx="4114800" cy="685800"/>
          </a:xfrm>
          <a:prstGeom prst="rect">
            <a:avLst/>
          </a:prstGeom>
          <a:noFill/>
        </p:spPr>
        <p:txBody>
          <a:bodyPr wrap="none">
            <a:spAutoFit/>
          </a:bodyPr>
          <a:lstStyle/>
          <a:p>
            <a:pPr>
              <a:defRPr sz="4000" b="1">
                <a:solidFill>
                  <a:srgbClr val="EA580C"/>
                </a:solidFill>
                <a:latin typeface="Helvetica Neue"/>
              </a:defRPr>
            </a:pPr>
            <a:r>
              <a:t>71</a:t>
            </a:r>
          </a:p>
        </p:txBody>
      </p:sp>
      <p:sp>
        <p:nvSpPr>
          <p:cNvPr id="7" name="TextBox 6"/>
          <p:cNvSpPr txBox="1"/>
          <p:nvPr/>
        </p:nvSpPr>
        <p:spPr>
          <a:xfrm>
            <a:off x="822960" y="2697480"/>
            <a:ext cx="4114800" cy="731520"/>
          </a:xfrm>
          <a:prstGeom prst="rect">
            <a:avLst/>
          </a:prstGeom>
          <a:noFill/>
        </p:spPr>
        <p:txBody>
          <a:bodyPr wrap="square">
            <a:spAutoFit/>
          </a:bodyPr>
          <a:lstStyle/>
          <a:p>
            <a:pPr>
              <a:defRPr sz="1000" b="1">
                <a:solidFill>
                  <a:srgbClr val="111827"/>
                </a:solidFill>
                <a:latin typeface="Helvetica Neue"/>
              </a:defRPr>
            </a:pPr>
            <a:r>
              <a:t>AUTOMATED TESTS</a:t>
            </a:r>
          </a:p>
          <a:p>
            <a:pPr>
              <a:spcBef>
                <a:spcPts val="200"/>
              </a:spcBef>
              <a:defRPr sz="1050">
                <a:solidFill>
                  <a:srgbClr val="4B5563"/>
                </a:solidFill>
                <a:latin typeface="Helvetica Neue"/>
              </a:defRPr>
            </a:pPr>
            <a:r>
              <a:t>Unit and integration test suite executing with 100% pass rate in &lt;25 seconds.</a:t>
            </a:r>
          </a:p>
        </p:txBody>
      </p:sp>
      <p:sp>
        <p:nvSpPr>
          <p:cNvPr id="8" name="TextBox 7"/>
          <p:cNvSpPr txBox="1"/>
          <p:nvPr/>
        </p:nvSpPr>
        <p:spPr>
          <a:xfrm>
            <a:off x="822960" y="3474720"/>
            <a:ext cx="4114800" cy="685800"/>
          </a:xfrm>
          <a:prstGeom prst="rect">
            <a:avLst/>
          </a:prstGeom>
          <a:noFill/>
        </p:spPr>
        <p:txBody>
          <a:bodyPr wrap="none">
            <a:spAutoFit/>
          </a:bodyPr>
          <a:lstStyle/>
          <a:p>
            <a:pPr>
              <a:defRPr sz="4000" b="1">
                <a:solidFill>
                  <a:srgbClr val="111827"/>
                </a:solidFill>
                <a:latin typeface="Helvetica Neue"/>
              </a:defRPr>
            </a:pPr>
            <a:r>
              <a:t>&lt; 20ms</a:t>
            </a:r>
          </a:p>
        </p:txBody>
      </p:sp>
      <p:sp>
        <p:nvSpPr>
          <p:cNvPr id="9" name="TextBox 8"/>
          <p:cNvSpPr txBox="1"/>
          <p:nvPr/>
        </p:nvSpPr>
        <p:spPr>
          <a:xfrm>
            <a:off x="822960" y="4160520"/>
            <a:ext cx="4114800" cy="731520"/>
          </a:xfrm>
          <a:prstGeom prst="rect">
            <a:avLst/>
          </a:prstGeom>
          <a:noFill/>
        </p:spPr>
        <p:txBody>
          <a:bodyPr wrap="square">
            <a:spAutoFit/>
          </a:bodyPr>
          <a:lstStyle/>
          <a:p>
            <a:pPr>
              <a:defRPr sz="1000" b="1">
                <a:solidFill>
                  <a:srgbClr val="111827"/>
                </a:solidFill>
                <a:latin typeface="Helvetica Neue"/>
              </a:defRPr>
            </a:pPr>
            <a:r>
              <a:t>CLOUD QUERY LATENCY</a:t>
            </a:r>
          </a:p>
          <a:p>
            <a:pPr>
              <a:spcBef>
                <a:spcPts val="200"/>
              </a:spcBef>
              <a:defRPr sz="1050">
                <a:solidFill>
                  <a:srgbClr val="4B5563"/>
                </a:solidFill>
                <a:latin typeface="Helvetica Neue"/>
              </a:defRPr>
            </a:pPr>
            <a:r>
              <a:t>Turso libSQL instance hosted in AWS Mumbai (ap-south-1) for real-time reads.</a:t>
            </a:r>
          </a:p>
        </p:txBody>
      </p:sp>
      <p:sp>
        <p:nvSpPr>
          <p:cNvPr id="10" name="TextBox 9"/>
          <p:cNvSpPr txBox="1"/>
          <p:nvPr/>
        </p:nvSpPr>
        <p:spPr>
          <a:xfrm>
            <a:off x="822960" y="4937760"/>
            <a:ext cx="4114800" cy="685800"/>
          </a:xfrm>
          <a:prstGeom prst="rect">
            <a:avLst/>
          </a:prstGeom>
          <a:noFill/>
        </p:spPr>
        <p:txBody>
          <a:bodyPr wrap="none">
            <a:spAutoFit/>
          </a:bodyPr>
          <a:lstStyle/>
          <a:p>
            <a:pPr>
              <a:defRPr sz="4000" b="1">
                <a:solidFill>
                  <a:srgbClr val="111827"/>
                </a:solidFill>
                <a:latin typeface="Helvetica Neue"/>
              </a:defRPr>
            </a:pPr>
            <a:r>
              <a:t>100%</a:t>
            </a:r>
          </a:p>
        </p:txBody>
      </p:sp>
      <p:sp>
        <p:nvSpPr>
          <p:cNvPr id="11" name="TextBox 10"/>
          <p:cNvSpPr txBox="1"/>
          <p:nvPr/>
        </p:nvSpPr>
        <p:spPr>
          <a:xfrm>
            <a:off x="822960" y="5623560"/>
            <a:ext cx="4114800" cy="731520"/>
          </a:xfrm>
          <a:prstGeom prst="rect">
            <a:avLst/>
          </a:prstGeom>
          <a:noFill/>
        </p:spPr>
        <p:txBody>
          <a:bodyPr wrap="square">
            <a:spAutoFit/>
          </a:bodyPr>
          <a:lstStyle/>
          <a:p>
            <a:pPr>
              <a:defRPr sz="1000" b="1">
                <a:solidFill>
                  <a:srgbClr val="111827"/>
                </a:solidFill>
                <a:latin typeface="Helvetica Neue"/>
              </a:defRPr>
            </a:pPr>
            <a:r>
              <a:t>ZERO RECURRING COST</a:t>
            </a:r>
          </a:p>
          <a:p>
            <a:pPr>
              <a:spcBef>
                <a:spcPts val="200"/>
              </a:spcBef>
              <a:defRPr sz="1050">
                <a:solidFill>
                  <a:srgbClr val="4B5563"/>
                </a:solidFill>
                <a:latin typeface="Helvetica Neue"/>
              </a:defRPr>
            </a:pPr>
            <a:r>
              <a:t>Architected completely on modern cloud free tiers (Vercel + Turso starter).</a:t>
            </a:r>
          </a:p>
        </p:txBody>
      </p:sp>
      <p:sp>
        <p:nvSpPr>
          <p:cNvPr id="12" name="TextBox 11"/>
          <p:cNvSpPr txBox="1"/>
          <p:nvPr/>
        </p:nvSpPr>
        <p:spPr>
          <a:xfrm>
            <a:off x="5669280" y="2011680"/>
            <a:ext cx="5669280" cy="4206240"/>
          </a:xfrm>
          <a:prstGeom prst="rect">
            <a:avLst/>
          </a:prstGeom>
          <a:noFill/>
        </p:spPr>
        <p:txBody>
          <a:bodyPr wrap="square">
            <a:spAutoFit/>
          </a:bodyPr>
          <a:lstStyle/>
          <a:p>
            <a:pPr>
              <a:spcAft>
                <a:spcPts val="1000"/>
              </a:spcAft>
              <a:defRPr sz="1400" b="1">
                <a:solidFill>
                  <a:srgbClr val="111827"/>
                </a:solidFill>
                <a:latin typeface="Helvetica Neue"/>
              </a:defRPr>
            </a:pPr>
            <a:r>
              <a:t>Abstract Summary</a:t>
            </a:r>
          </a:p>
          <a:p>
            <a:pPr>
              <a:lnSpc>
                <a:spcPct val="130000"/>
              </a:lnSpc>
              <a:defRPr sz="1200">
                <a:solidFill>
                  <a:srgbClr val="4B5563"/>
                </a:solidFill>
                <a:latin typeface="Helvetica Neue"/>
              </a:defRPr>
            </a:pPr>
            <a:r>
              <a:t>ShopSphere demonstrates that full-stack electronic commerce platforms can achieve production-grade persistence and reliability without complex, costly database clusters. Engineered with Python 3.12, Flask 3.0, and libSQL, the application features an end-to-end customer purchasing lifecycle: faceted catalog search across 25 curated products, persistent shopping carts, dynamic 18% GST calculation, tiered shipping fee waivers, and promo discount codes.</a:t>
            </a:r>
            <a:br/>
            <a:br/>
            <a:r>
              <a:t>A central contribution is the PayNova payment simulation subsystem, which implements the Luhn algorithm (MOD 10), multi-rail routing (Cards, UPI, NetBanking, COD), and an interactive OTP state machine with automated restock on cancellation.</a:t>
            </a:r>
            <a:br/>
            <a:br/>
            <a:r>
              <a:t>Governed by Husky v9 and Commitlint adhering to Conventional Commits, the application is deployed live on Vercel Serverless Functions backed by Turso on AWS Mumbai.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11480"/>
            <a:ext cx="7315200" cy="274320"/>
          </a:xfrm>
          <a:prstGeom prst="rect">
            <a:avLst/>
          </a:prstGeom>
          <a:noFill/>
        </p:spPr>
        <p:txBody>
          <a:bodyPr wrap="none" lIns="0" tIns="0" rIns="0" bIns="0">
            <a:spAutoFit/>
          </a:bodyPr>
          <a:lstStyle/>
          <a:p>
            <a:pPr>
              <a:defRPr sz="950" b="0">
                <a:solidFill>
                  <a:srgbClr val="9CA3AF"/>
                </a:solidFill>
                <a:latin typeface="Helvetica Neue"/>
              </a:defRPr>
            </a:pPr>
            <a:r>
              <a:t>ShopSphere 2026   |   Key Highlights</a:t>
            </a:r>
          </a:p>
        </p:txBody>
      </p:sp>
      <p:sp>
        <p:nvSpPr>
          <p:cNvPr id="4" name="TextBox 3"/>
          <p:cNvSpPr txBox="1"/>
          <p:nvPr/>
        </p:nvSpPr>
        <p:spPr>
          <a:xfrm>
            <a:off x="10972800" y="411480"/>
            <a:ext cx="457200" cy="274320"/>
          </a:xfrm>
          <a:prstGeom prst="rect">
            <a:avLst/>
          </a:prstGeom>
          <a:noFill/>
        </p:spPr>
        <p:txBody>
          <a:bodyPr wrap="none" lIns="0" tIns="0" rIns="0" bIns="0">
            <a:spAutoFit/>
          </a:bodyPr>
          <a:lstStyle/>
          <a:p>
            <a:pPr algn="r">
              <a:defRPr sz="1000" b="1">
                <a:solidFill>
                  <a:srgbClr val="9CA3AF"/>
                </a:solidFill>
                <a:latin typeface="Helvetica Neue"/>
              </a:defRPr>
            </a:pPr>
            <a:r>
              <a:t>04</a:t>
            </a:r>
          </a:p>
        </p:txBody>
      </p:sp>
      <p:sp>
        <p:nvSpPr>
          <p:cNvPr id="5" name="TextBox 4"/>
          <p:cNvSpPr txBox="1"/>
          <p:nvPr/>
        </p:nvSpPr>
        <p:spPr>
          <a:xfrm>
            <a:off x="822960" y="914400"/>
            <a:ext cx="10515600" cy="914400"/>
          </a:xfrm>
          <a:prstGeom prst="rect">
            <a:avLst/>
          </a:prstGeom>
          <a:noFill/>
        </p:spPr>
        <p:txBody>
          <a:bodyPr wrap="none">
            <a:spAutoFit/>
          </a:bodyPr>
          <a:lstStyle/>
          <a:p>
            <a:pPr>
              <a:defRPr sz="2800" b="1">
                <a:solidFill>
                  <a:srgbClr val="111827"/>
                </a:solidFill>
                <a:latin typeface="Helvetica Neue"/>
              </a:defRPr>
            </a:pPr>
            <a:r>
              <a:t>An integrated shopping, payment, and inventory management ecosystem.</a:t>
            </a:r>
          </a:p>
        </p:txBody>
      </p:sp>
      <p:sp>
        <p:nvSpPr>
          <p:cNvPr id="6" name="TextBox 5"/>
          <p:cNvSpPr txBox="1"/>
          <p:nvPr/>
        </p:nvSpPr>
        <p:spPr>
          <a:xfrm>
            <a:off x="822960" y="2103120"/>
            <a:ext cx="3200400" cy="1920240"/>
          </a:xfrm>
          <a:prstGeom prst="rect">
            <a:avLst/>
          </a:prstGeom>
          <a:noFill/>
        </p:spPr>
        <p:txBody>
          <a:bodyPr wrap="square" lIns="0" tIns="0" rIns="0" bIns="0">
            <a:spAutoFit/>
          </a:bodyPr>
          <a:lstStyle/>
          <a:p>
            <a:pPr>
              <a:spcAft>
                <a:spcPts val="400"/>
              </a:spcAft>
              <a:defRPr sz="2200" b="1">
                <a:solidFill>
                  <a:srgbClr val="EA580C"/>
                </a:solidFill>
                <a:latin typeface="Helvetica Neue"/>
              </a:defRPr>
            </a:pPr>
            <a:r>
              <a:t>01</a:t>
            </a:r>
          </a:p>
          <a:p>
            <a:pPr>
              <a:spcAft>
                <a:spcPts val="600"/>
              </a:spcAft>
              <a:defRPr sz="1300" b="1">
                <a:solidFill>
                  <a:srgbClr val="111827"/>
                </a:solidFill>
                <a:latin typeface="Helvetica Neue"/>
              </a:defRPr>
            </a:pPr>
            <a:r>
              <a:t>Curated Catalogue &amp; Search</a:t>
            </a:r>
          </a:p>
          <a:p>
            <a:pPr>
              <a:lnSpc>
                <a:spcPct val="125000"/>
              </a:lnSpc>
              <a:defRPr sz="1100">
                <a:solidFill>
                  <a:srgbClr val="4B5563"/>
                </a:solidFill>
                <a:latin typeface="Helvetica Neue"/>
              </a:defRPr>
            </a:pPr>
            <a:r>
              <a:t>25 products across 6 departments with professional Unsplash studio photography, faceted filtering, and real-time SQL text search.</a:t>
            </a:r>
          </a:p>
        </p:txBody>
      </p:sp>
      <p:sp>
        <p:nvSpPr>
          <p:cNvPr id="7" name="TextBox 6"/>
          <p:cNvSpPr txBox="1"/>
          <p:nvPr/>
        </p:nvSpPr>
        <p:spPr>
          <a:xfrm>
            <a:off x="4389120" y="2103120"/>
            <a:ext cx="3200400" cy="1920240"/>
          </a:xfrm>
          <a:prstGeom prst="rect">
            <a:avLst/>
          </a:prstGeom>
          <a:noFill/>
        </p:spPr>
        <p:txBody>
          <a:bodyPr wrap="square" lIns="0" tIns="0" rIns="0" bIns="0">
            <a:spAutoFit/>
          </a:bodyPr>
          <a:lstStyle/>
          <a:p>
            <a:pPr>
              <a:spcAft>
                <a:spcPts val="400"/>
              </a:spcAft>
              <a:defRPr sz="2200" b="1">
                <a:solidFill>
                  <a:srgbClr val="EA580C"/>
                </a:solidFill>
                <a:latin typeface="Helvetica Neue"/>
              </a:defRPr>
            </a:pPr>
            <a:r>
              <a:t>02</a:t>
            </a:r>
          </a:p>
          <a:p>
            <a:pPr>
              <a:spcAft>
                <a:spcPts val="600"/>
              </a:spcAft>
              <a:defRPr sz="1300" b="1">
                <a:solidFill>
                  <a:srgbClr val="111827"/>
                </a:solidFill>
                <a:latin typeface="Helvetica Neue"/>
              </a:defRPr>
            </a:pPr>
            <a:r>
              <a:t>Cart &amp; Dynamic Taxation</a:t>
            </a:r>
          </a:p>
          <a:p>
            <a:pPr>
              <a:lnSpc>
                <a:spcPct val="125000"/>
              </a:lnSpc>
              <a:defRPr sz="1100">
                <a:solidFill>
                  <a:srgbClr val="4B5563"/>
                </a:solidFill>
                <a:latin typeface="Helvetica Neue"/>
              </a:defRPr>
            </a:pPr>
            <a:r>
              <a:t>Session-backed basket enforcing live inventory limits, automatic 18% GST calculation, tiered shipping waivers, and coupon rules.</a:t>
            </a:r>
          </a:p>
        </p:txBody>
      </p:sp>
      <p:sp>
        <p:nvSpPr>
          <p:cNvPr id="8" name="TextBox 7"/>
          <p:cNvSpPr txBox="1"/>
          <p:nvPr/>
        </p:nvSpPr>
        <p:spPr>
          <a:xfrm>
            <a:off x="7955280" y="2103120"/>
            <a:ext cx="3200400" cy="1920240"/>
          </a:xfrm>
          <a:prstGeom prst="rect">
            <a:avLst/>
          </a:prstGeom>
          <a:noFill/>
        </p:spPr>
        <p:txBody>
          <a:bodyPr wrap="square" lIns="0" tIns="0" rIns="0" bIns="0">
            <a:spAutoFit/>
          </a:bodyPr>
          <a:lstStyle/>
          <a:p>
            <a:pPr>
              <a:spcAft>
                <a:spcPts val="400"/>
              </a:spcAft>
              <a:defRPr sz="2200" b="1">
                <a:solidFill>
                  <a:srgbClr val="EA580C"/>
                </a:solidFill>
                <a:latin typeface="Helvetica Neue"/>
              </a:defRPr>
            </a:pPr>
            <a:r>
              <a:t>03</a:t>
            </a:r>
          </a:p>
          <a:p>
            <a:pPr>
              <a:spcAft>
                <a:spcPts val="600"/>
              </a:spcAft>
              <a:defRPr sz="1300" b="1">
                <a:solidFill>
                  <a:srgbClr val="111827"/>
                </a:solidFill>
                <a:latin typeface="Helvetica Neue"/>
              </a:defRPr>
            </a:pPr>
            <a:r>
              <a:t>PayNova Banking Mock</a:t>
            </a:r>
          </a:p>
          <a:p>
            <a:pPr>
              <a:lnSpc>
                <a:spcPct val="125000"/>
              </a:lnSpc>
              <a:defRPr sz="1100">
                <a:solidFill>
                  <a:srgbClr val="4B5563"/>
                </a:solidFill>
                <a:latin typeface="Helvetica Neue"/>
              </a:defRPr>
            </a:pPr>
            <a:r>
              <a:t>Full multi-rail simulation: Luhn MOD 10 card validation, network detection (Visa, MC, RuPay), UPI parsing, and 3-attempt OTP challenge.</a:t>
            </a:r>
          </a:p>
        </p:txBody>
      </p:sp>
      <p:sp>
        <p:nvSpPr>
          <p:cNvPr id="9" name="TextBox 8"/>
          <p:cNvSpPr txBox="1"/>
          <p:nvPr/>
        </p:nvSpPr>
        <p:spPr>
          <a:xfrm>
            <a:off x="822960" y="4297680"/>
            <a:ext cx="3200400" cy="1920240"/>
          </a:xfrm>
          <a:prstGeom prst="rect">
            <a:avLst/>
          </a:prstGeom>
          <a:noFill/>
        </p:spPr>
        <p:txBody>
          <a:bodyPr wrap="square" lIns="0" tIns="0" rIns="0" bIns="0">
            <a:spAutoFit/>
          </a:bodyPr>
          <a:lstStyle/>
          <a:p>
            <a:pPr>
              <a:spcAft>
                <a:spcPts val="400"/>
              </a:spcAft>
              <a:defRPr sz="2200" b="1">
                <a:solidFill>
                  <a:srgbClr val="EA580C"/>
                </a:solidFill>
                <a:latin typeface="Helvetica Neue"/>
              </a:defRPr>
            </a:pPr>
            <a:r>
              <a:t>04</a:t>
            </a:r>
          </a:p>
          <a:p>
            <a:pPr>
              <a:spcAft>
                <a:spcPts val="600"/>
              </a:spcAft>
              <a:defRPr sz="1300" b="1">
                <a:solidFill>
                  <a:srgbClr val="111827"/>
                </a:solidFill>
                <a:latin typeface="Helvetica Neue"/>
              </a:defRPr>
            </a:pPr>
            <a:r>
              <a:t>Order Finite-State Machine</a:t>
            </a:r>
          </a:p>
          <a:p>
            <a:pPr>
              <a:lnSpc>
                <a:spcPct val="125000"/>
              </a:lnSpc>
              <a:defRPr sz="1100">
                <a:solidFill>
                  <a:srgbClr val="4B5563"/>
                </a:solidFill>
                <a:latin typeface="Helvetica Neue"/>
              </a:defRPr>
            </a:pPr>
            <a:r>
              <a:t>Deterministic workflow progression (Pending ➔ Confirmed ➔ Shipped ➔ Delivered) with automated inventory restocking upon cancellation.</a:t>
            </a:r>
          </a:p>
        </p:txBody>
      </p:sp>
      <p:sp>
        <p:nvSpPr>
          <p:cNvPr id="10" name="TextBox 9"/>
          <p:cNvSpPr txBox="1"/>
          <p:nvPr/>
        </p:nvSpPr>
        <p:spPr>
          <a:xfrm>
            <a:off x="4389120" y="4297680"/>
            <a:ext cx="3200400" cy="1920240"/>
          </a:xfrm>
          <a:prstGeom prst="rect">
            <a:avLst/>
          </a:prstGeom>
          <a:noFill/>
        </p:spPr>
        <p:txBody>
          <a:bodyPr wrap="square" lIns="0" tIns="0" rIns="0" bIns="0">
            <a:spAutoFit/>
          </a:bodyPr>
          <a:lstStyle/>
          <a:p>
            <a:pPr>
              <a:spcAft>
                <a:spcPts val="400"/>
              </a:spcAft>
              <a:defRPr sz="2200" b="1">
                <a:solidFill>
                  <a:srgbClr val="EA580C"/>
                </a:solidFill>
                <a:latin typeface="Helvetica Neue"/>
              </a:defRPr>
            </a:pPr>
            <a:r>
              <a:t>05</a:t>
            </a:r>
          </a:p>
          <a:p>
            <a:pPr>
              <a:spcAft>
                <a:spcPts val="600"/>
              </a:spcAft>
              <a:defRPr sz="1300" b="1">
                <a:solidFill>
                  <a:srgbClr val="111827"/>
                </a:solidFill>
                <a:latin typeface="Helvetica Neue"/>
              </a:defRPr>
            </a:pPr>
            <a:r>
              <a:t>Administrative Command Center</a:t>
            </a:r>
          </a:p>
          <a:p>
            <a:pPr>
              <a:lnSpc>
                <a:spcPct val="125000"/>
              </a:lnSpc>
              <a:defRPr sz="1100">
                <a:solidFill>
                  <a:srgbClr val="4B5563"/>
                </a:solidFill>
                <a:latin typeface="Helvetica Neue"/>
              </a:defRPr>
            </a:pPr>
            <a:r>
              <a:t>Executive KPI analytics (Sales, Orders, Low-Stock alerts), inventory adjustments with logged reasons, and transaction ledgers.</a:t>
            </a:r>
          </a:p>
        </p:txBody>
      </p:sp>
      <p:sp>
        <p:nvSpPr>
          <p:cNvPr id="11" name="TextBox 10"/>
          <p:cNvSpPr txBox="1"/>
          <p:nvPr/>
        </p:nvSpPr>
        <p:spPr>
          <a:xfrm>
            <a:off x="7955280" y="4297680"/>
            <a:ext cx="3200400" cy="1920240"/>
          </a:xfrm>
          <a:prstGeom prst="rect">
            <a:avLst/>
          </a:prstGeom>
          <a:noFill/>
        </p:spPr>
        <p:txBody>
          <a:bodyPr wrap="square" lIns="0" tIns="0" rIns="0" bIns="0">
            <a:spAutoFit/>
          </a:bodyPr>
          <a:lstStyle/>
          <a:p>
            <a:pPr>
              <a:spcAft>
                <a:spcPts val="400"/>
              </a:spcAft>
              <a:defRPr sz="2200" b="1">
                <a:solidFill>
                  <a:srgbClr val="EA580C"/>
                </a:solidFill>
                <a:latin typeface="Helvetica Neue"/>
              </a:defRPr>
            </a:pPr>
            <a:r>
              <a:t>06</a:t>
            </a:r>
          </a:p>
          <a:p>
            <a:pPr>
              <a:spcAft>
                <a:spcPts val="600"/>
              </a:spcAft>
              <a:defRPr sz="1300" b="1">
                <a:solidFill>
                  <a:srgbClr val="111827"/>
                </a:solidFill>
                <a:latin typeface="Helvetica Neue"/>
              </a:defRPr>
            </a:pPr>
            <a:r>
              <a:t>Responsive Design System</a:t>
            </a:r>
          </a:p>
          <a:p>
            <a:pPr>
              <a:lnSpc>
                <a:spcPct val="125000"/>
              </a:lnSpc>
              <a:defRPr sz="1100">
                <a:solidFill>
                  <a:srgbClr val="4B5563"/>
                </a:solidFill>
                <a:latin typeface="Helvetica Neue"/>
              </a:defRPr>
            </a:pPr>
            <a:r>
              <a:t>Zero-FOUC Light/Dark theme switcher with client-side localStorage state persistence and lightweight Lucide SVG inline sprites.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11480"/>
            <a:ext cx="7315200" cy="274320"/>
          </a:xfrm>
          <a:prstGeom prst="rect">
            <a:avLst/>
          </a:prstGeom>
          <a:noFill/>
        </p:spPr>
        <p:txBody>
          <a:bodyPr wrap="none" lIns="0" tIns="0" rIns="0" bIns="0">
            <a:spAutoFit/>
          </a:bodyPr>
          <a:lstStyle/>
          <a:p>
            <a:pPr>
              <a:defRPr sz="950" b="0">
                <a:solidFill>
                  <a:srgbClr val="9CA3AF"/>
                </a:solidFill>
                <a:latin typeface="Helvetica Neue"/>
              </a:defRPr>
            </a:pPr>
            <a:r>
              <a:t>ShopSphere 2026   |   System Specifications</a:t>
            </a:r>
          </a:p>
        </p:txBody>
      </p:sp>
      <p:sp>
        <p:nvSpPr>
          <p:cNvPr id="4" name="TextBox 3"/>
          <p:cNvSpPr txBox="1"/>
          <p:nvPr/>
        </p:nvSpPr>
        <p:spPr>
          <a:xfrm>
            <a:off x="10972800" y="411480"/>
            <a:ext cx="457200" cy="274320"/>
          </a:xfrm>
          <a:prstGeom prst="rect">
            <a:avLst/>
          </a:prstGeom>
          <a:noFill/>
        </p:spPr>
        <p:txBody>
          <a:bodyPr wrap="none" lIns="0" tIns="0" rIns="0" bIns="0">
            <a:spAutoFit/>
          </a:bodyPr>
          <a:lstStyle/>
          <a:p>
            <a:pPr algn="r">
              <a:defRPr sz="1000" b="1">
                <a:solidFill>
                  <a:srgbClr val="9CA3AF"/>
                </a:solidFill>
                <a:latin typeface="Helvetica Neue"/>
              </a:defRPr>
            </a:pPr>
            <a:r>
              <a:t>05</a:t>
            </a:r>
          </a:p>
        </p:txBody>
      </p:sp>
      <p:sp>
        <p:nvSpPr>
          <p:cNvPr id="5" name="TextBox 4"/>
          <p:cNvSpPr txBox="1"/>
          <p:nvPr/>
        </p:nvSpPr>
        <p:spPr>
          <a:xfrm>
            <a:off x="822960" y="914400"/>
            <a:ext cx="10515600" cy="914400"/>
          </a:xfrm>
          <a:prstGeom prst="rect">
            <a:avLst/>
          </a:prstGeom>
          <a:noFill/>
        </p:spPr>
        <p:txBody>
          <a:bodyPr wrap="none">
            <a:spAutoFit/>
          </a:bodyPr>
          <a:lstStyle/>
          <a:p>
            <a:pPr>
              <a:defRPr sz="2800" b="1">
                <a:solidFill>
                  <a:srgbClr val="111827"/>
                </a:solidFill>
                <a:latin typeface="Helvetica Neue"/>
              </a:defRPr>
            </a:pPr>
            <a:r>
              <a:t>Technical execution and deployment prerequisites.</a:t>
            </a:r>
          </a:p>
        </p:txBody>
      </p:sp>
      <p:sp>
        <p:nvSpPr>
          <p:cNvPr id="6" name="TextBox 5"/>
          <p:cNvSpPr txBox="1"/>
          <p:nvPr/>
        </p:nvSpPr>
        <p:spPr>
          <a:xfrm>
            <a:off x="822960" y="2011680"/>
            <a:ext cx="5029200" cy="4206240"/>
          </a:xfrm>
          <a:prstGeom prst="rect">
            <a:avLst/>
          </a:prstGeom>
          <a:noFill/>
        </p:spPr>
        <p:txBody>
          <a:bodyPr wrap="square">
            <a:spAutoFit/>
          </a:bodyPr>
          <a:lstStyle/>
          <a:p>
            <a:pPr>
              <a:spcAft>
                <a:spcPts val="1200"/>
              </a:spcAft>
              <a:defRPr sz="1500" b="1">
                <a:solidFill>
                  <a:srgbClr val="111827"/>
                </a:solidFill>
                <a:latin typeface="Helvetica Neue"/>
              </a:defRPr>
            </a:pPr>
            <a:r>
              <a:t>Software Architecture &amp; Runtimes</a:t>
            </a:r>
          </a:p>
          <a:p>
            <a:pPr>
              <a:spcAft>
                <a:spcPts val="500"/>
              </a:spcAft>
            </a:pPr>
            <a:r>
              <a:rPr sz="1100" b="1">
                <a:solidFill>
                  <a:srgbClr val="111827"/>
                </a:solidFill>
                <a:latin typeface="Helvetica Neue"/>
              </a:rPr>
              <a:t>Operating System       </a:t>
            </a:r>
            <a:r>
              <a:rPr sz="1100">
                <a:solidFill>
                  <a:srgbClr val="4B5563"/>
                </a:solidFill>
                <a:latin typeface="Helvetica Neue"/>
              </a:rPr>
              <a:t>Linux (Ubuntu / Debian), macOS, Windows 10/11</a:t>
            </a:r>
          </a:p>
          <a:p>
            <a:pPr>
              <a:spcAft>
                <a:spcPts val="500"/>
              </a:spcAft>
            </a:pPr>
            <a:r>
              <a:rPr sz="1100" b="1">
                <a:solidFill>
                  <a:srgbClr val="111827"/>
                </a:solidFill>
                <a:latin typeface="Helvetica Neue"/>
              </a:rPr>
              <a:t>Backend Language       </a:t>
            </a:r>
            <a:r>
              <a:rPr sz="1100">
                <a:solidFill>
                  <a:srgbClr val="4B5563"/>
                </a:solidFill>
                <a:latin typeface="Helvetica Neue"/>
              </a:rPr>
              <a:t>Python 3.12 (CPython Standard Runtime)</a:t>
            </a:r>
          </a:p>
          <a:p>
            <a:pPr>
              <a:spcAft>
                <a:spcPts val="500"/>
              </a:spcAft>
            </a:pPr>
            <a:r>
              <a:rPr sz="1100" b="1">
                <a:solidFill>
                  <a:srgbClr val="111827"/>
                </a:solidFill>
                <a:latin typeface="Helvetica Neue"/>
              </a:rPr>
              <a:t>Web Framework          </a:t>
            </a:r>
            <a:r>
              <a:rPr sz="1100">
                <a:solidFill>
                  <a:srgbClr val="4B5563"/>
                </a:solidFill>
                <a:latin typeface="Helvetica Neue"/>
              </a:rPr>
              <a:t>Flask 3.0+ &amp; Werkzeug (WSGI + Cryptography)</a:t>
            </a:r>
          </a:p>
          <a:p>
            <a:pPr>
              <a:spcAft>
                <a:spcPts val="500"/>
              </a:spcAft>
            </a:pPr>
            <a:r>
              <a:rPr sz="1100" b="1">
                <a:solidFill>
                  <a:srgbClr val="111827"/>
                </a:solidFill>
                <a:latin typeface="Helvetica Neue"/>
              </a:rPr>
              <a:t>Local Database         </a:t>
            </a:r>
            <a:r>
              <a:rPr sz="1100">
                <a:solidFill>
                  <a:srgbClr val="4B5563"/>
                </a:solidFill>
                <a:latin typeface="Helvetica Neue"/>
              </a:rPr>
              <a:t>SQLite 3 (Built-in CPython module for testing)</a:t>
            </a:r>
          </a:p>
          <a:p>
            <a:pPr>
              <a:spcAft>
                <a:spcPts val="500"/>
              </a:spcAft>
            </a:pPr>
            <a:r>
              <a:rPr sz="1100" b="1">
                <a:solidFill>
                  <a:srgbClr val="111827"/>
                </a:solidFill>
                <a:latin typeface="Helvetica Neue"/>
              </a:rPr>
              <a:t>Cloud Database         </a:t>
            </a:r>
            <a:r>
              <a:rPr sz="1100">
                <a:solidFill>
                  <a:srgbClr val="4B5563"/>
                </a:solidFill>
                <a:latin typeface="Helvetica Neue"/>
              </a:rPr>
              <a:t>Turso libSQL Server (AWS Mumbai via Hrana WSS)</a:t>
            </a:r>
          </a:p>
          <a:p>
            <a:pPr>
              <a:spcAft>
                <a:spcPts val="500"/>
              </a:spcAft>
            </a:pPr>
            <a:r>
              <a:rPr sz="1100" b="1">
                <a:solidFill>
                  <a:srgbClr val="111827"/>
                </a:solidFill>
                <a:latin typeface="Helvetica Neue"/>
              </a:rPr>
              <a:t>Cloud Hosting          </a:t>
            </a:r>
            <a:r>
              <a:rPr sz="1100">
                <a:solidFill>
                  <a:srgbClr val="4B5563"/>
                </a:solidFill>
                <a:latin typeface="Helvetica Neue"/>
              </a:rPr>
              <a:t>Vercel Serverless Functions (@vercel/python)</a:t>
            </a:r>
          </a:p>
          <a:p>
            <a:pPr>
              <a:spcAft>
                <a:spcPts val="500"/>
              </a:spcAft>
            </a:pPr>
            <a:r>
              <a:rPr sz="1100" b="1">
                <a:solidFill>
                  <a:srgbClr val="111827"/>
                </a:solidFill>
                <a:latin typeface="Helvetica Neue"/>
              </a:rPr>
              <a:t>Governance Tooling     </a:t>
            </a:r>
            <a:r>
              <a:rPr sz="1100">
                <a:solidFill>
                  <a:srgbClr val="4B5563"/>
                </a:solidFill>
                <a:latin typeface="Helvetica Neue"/>
              </a:rPr>
              <a:t>Git 2.40+, Node.js 22, Husky v9, Commitlint</a:t>
            </a:r>
          </a:p>
          <a:p>
            <a:pPr>
              <a:spcAft>
                <a:spcPts val="500"/>
              </a:spcAft>
            </a:pPr>
            <a:r>
              <a:rPr sz="1100" b="1">
                <a:solidFill>
                  <a:srgbClr val="111827"/>
                </a:solidFill>
                <a:latin typeface="Helvetica Neue"/>
              </a:rPr>
              <a:t>Frontend Assets        </a:t>
            </a:r>
            <a:r>
              <a:rPr sz="1100">
                <a:solidFill>
                  <a:srgbClr val="4B5563"/>
                </a:solidFill>
                <a:latin typeface="Helvetica Neue"/>
              </a:rPr>
              <a:t>HTML5, CSS3 Custom Properties, Vanilla ES6, Lucide</a:t>
            </a:r>
          </a:p>
        </p:txBody>
      </p:sp>
      <p:sp>
        <p:nvSpPr>
          <p:cNvPr id="7" name="TextBox 6"/>
          <p:cNvSpPr txBox="1"/>
          <p:nvPr/>
        </p:nvSpPr>
        <p:spPr>
          <a:xfrm>
            <a:off x="6309360" y="2011680"/>
            <a:ext cx="5029200" cy="4206240"/>
          </a:xfrm>
          <a:prstGeom prst="rect">
            <a:avLst/>
          </a:prstGeom>
          <a:noFill/>
        </p:spPr>
        <p:txBody>
          <a:bodyPr wrap="square">
            <a:spAutoFit/>
          </a:bodyPr>
          <a:lstStyle/>
          <a:p>
            <a:pPr>
              <a:spcAft>
                <a:spcPts val="1200"/>
              </a:spcAft>
              <a:defRPr sz="1500" b="1">
                <a:solidFill>
                  <a:srgbClr val="EA580C"/>
                </a:solidFill>
                <a:latin typeface="Helvetica Neue"/>
              </a:defRPr>
            </a:pPr>
            <a:r>
              <a:t>Hardware &amp; Cloud Infrastructure</a:t>
            </a:r>
          </a:p>
          <a:p>
            <a:pPr>
              <a:spcAft>
                <a:spcPts val="500"/>
              </a:spcAft>
            </a:pPr>
            <a:r>
              <a:rPr sz="1100" b="1">
                <a:solidFill>
                  <a:srgbClr val="111827"/>
                </a:solidFill>
                <a:latin typeface="Helvetica Neue"/>
              </a:rPr>
              <a:t>Client Hardware        </a:t>
            </a:r>
            <a:r>
              <a:rPr sz="1100">
                <a:solidFill>
                  <a:srgbClr val="4B5563"/>
                </a:solidFill>
                <a:latin typeface="Helvetica Neue"/>
              </a:rPr>
              <a:t>Cross-platform: Desktop, Laptop, Tablet, Mobile</a:t>
            </a:r>
          </a:p>
          <a:p>
            <a:pPr>
              <a:spcAft>
                <a:spcPts val="500"/>
              </a:spcAft>
            </a:pPr>
            <a:r>
              <a:rPr sz="1100" b="1">
                <a:solidFill>
                  <a:srgbClr val="111827"/>
                </a:solidFill>
                <a:latin typeface="Helvetica Neue"/>
              </a:rPr>
              <a:t>Development Processor  </a:t>
            </a:r>
            <a:r>
              <a:rPr sz="1100">
                <a:solidFill>
                  <a:srgbClr val="4B5563"/>
                </a:solidFill>
                <a:latin typeface="Helvetica Neue"/>
              </a:rPr>
              <a:t>2.0 GHz Dual-Core x86_64 or Apple Silicon (M-series)</a:t>
            </a:r>
          </a:p>
          <a:p>
            <a:pPr>
              <a:spcAft>
                <a:spcPts val="500"/>
              </a:spcAft>
            </a:pPr>
            <a:r>
              <a:rPr sz="1100" b="1">
                <a:solidFill>
                  <a:srgbClr val="111827"/>
                </a:solidFill>
                <a:latin typeface="Helvetica Neue"/>
              </a:rPr>
              <a:t>Memory (RAM)           </a:t>
            </a:r>
            <a:r>
              <a:rPr sz="1100">
                <a:solidFill>
                  <a:srgbClr val="4B5563"/>
                </a:solidFill>
                <a:latin typeface="Helvetica Neue"/>
              </a:rPr>
              <a:t>Minimum 4 GB (8 GB recommended for development)</a:t>
            </a:r>
          </a:p>
          <a:p>
            <a:pPr>
              <a:spcAft>
                <a:spcPts val="500"/>
              </a:spcAft>
            </a:pPr>
            <a:r>
              <a:rPr sz="1100" b="1">
                <a:solidFill>
                  <a:srgbClr val="111827"/>
                </a:solidFill>
                <a:latin typeface="Helvetica Neue"/>
              </a:rPr>
              <a:t>Disk Storage           </a:t>
            </a:r>
            <a:r>
              <a:rPr sz="1100">
                <a:solidFill>
                  <a:srgbClr val="4B5563"/>
                </a:solidFill>
                <a:latin typeface="Helvetica Neue"/>
              </a:rPr>
              <a:t>500 MB free space for repository and local database</a:t>
            </a:r>
          </a:p>
          <a:p>
            <a:pPr>
              <a:spcAft>
                <a:spcPts val="500"/>
              </a:spcAft>
            </a:pPr>
            <a:r>
              <a:rPr sz="1100" b="1">
                <a:solidFill>
                  <a:srgbClr val="111827"/>
                </a:solidFill>
                <a:latin typeface="Helvetica Neue"/>
              </a:rPr>
              <a:t>Display Resolution     </a:t>
            </a:r>
            <a:r>
              <a:rPr sz="1100">
                <a:solidFill>
                  <a:srgbClr val="4B5563"/>
                </a:solidFill>
                <a:latin typeface="Helvetica Neue"/>
              </a:rPr>
              <a:t>Responsive (1024x768 to 1920x1080 Full HD)</a:t>
            </a:r>
          </a:p>
          <a:p>
            <a:pPr>
              <a:spcAft>
                <a:spcPts val="500"/>
              </a:spcAft>
            </a:pPr>
            <a:r>
              <a:rPr sz="1100" b="1">
                <a:solidFill>
                  <a:srgbClr val="111827"/>
                </a:solidFill>
                <a:latin typeface="Helvetica Neue"/>
              </a:rPr>
              <a:t>Vercel Serverless Specs </a:t>
            </a:r>
            <a:r>
              <a:rPr sz="1100">
                <a:solidFill>
                  <a:srgbClr val="4B5563"/>
                </a:solidFill>
                <a:latin typeface="Helvetica Neue"/>
              </a:rPr>
              <a:t>2 vCPU, 8192 MB allocated memory per function</a:t>
            </a:r>
          </a:p>
          <a:p>
            <a:pPr>
              <a:spcAft>
                <a:spcPts val="500"/>
              </a:spcAft>
            </a:pPr>
            <a:r>
              <a:rPr sz="1100" b="1">
                <a:solidFill>
                  <a:srgbClr val="111827"/>
                </a:solidFill>
                <a:latin typeface="Helvetica Neue"/>
              </a:rPr>
              <a:t>Turso Cloud Specs      </a:t>
            </a:r>
            <a:r>
              <a:rPr sz="1100">
                <a:solidFill>
                  <a:srgbClr val="4B5563"/>
                </a:solidFill>
                <a:latin typeface="Helvetica Neue"/>
              </a:rPr>
              <a:t>Hosted on AWS Mumbai (ap-south-1) for &lt;20ms latency</a:t>
            </a:r>
          </a:p>
          <a:p>
            <a:pPr>
              <a:spcAft>
                <a:spcPts val="500"/>
              </a:spcAft>
            </a:pPr>
            <a:r>
              <a:rPr sz="1100" b="1">
                <a:solidFill>
                  <a:srgbClr val="111827"/>
                </a:solidFill>
                <a:latin typeface="Helvetica Neue"/>
              </a:rPr>
              <a:t>Network Bandwidth      </a:t>
            </a:r>
            <a:r>
              <a:rPr sz="1100">
                <a:solidFill>
                  <a:srgbClr val="4B5563"/>
                </a:solidFill>
                <a:latin typeface="Helvetica Neue"/>
              </a:rPr>
              <a:t>Broadband internet connection for libSQL synchronization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11480"/>
            <a:ext cx="7315200" cy="274320"/>
          </a:xfrm>
          <a:prstGeom prst="rect">
            <a:avLst/>
          </a:prstGeom>
          <a:noFill/>
        </p:spPr>
        <p:txBody>
          <a:bodyPr wrap="none" lIns="0" tIns="0" rIns="0" bIns="0">
            <a:spAutoFit/>
          </a:bodyPr>
          <a:lstStyle/>
          <a:p>
            <a:pPr>
              <a:defRPr sz="950" b="0">
                <a:solidFill>
                  <a:srgbClr val="9CA3AF"/>
                </a:solidFill>
                <a:latin typeface="Helvetica Neue"/>
              </a:defRPr>
            </a:pPr>
            <a:r>
              <a:t>ShopSphere 2026   |   Implementation</a:t>
            </a:r>
          </a:p>
        </p:txBody>
      </p:sp>
      <p:sp>
        <p:nvSpPr>
          <p:cNvPr id="4" name="TextBox 3"/>
          <p:cNvSpPr txBox="1"/>
          <p:nvPr/>
        </p:nvSpPr>
        <p:spPr>
          <a:xfrm>
            <a:off x="10972800" y="411480"/>
            <a:ext cx="457200" cy="274320"/>
          </a:xfrm>
          <a:prstGeom prst="rect">
            <a:avLst/>
          </a:prstGeom>
          <a:noFill/>
        </p:spPr>
        <p:txBody>
          <a:bodyPr wrap="none" lIns="0" tIns="0" rIns="0" bIns="0">
            <a:spAutoFit/>
          </a:bodyPr>
          <a:lstStyle/>
          <a:p>
            <a:pPr algn="r">
              <a:defRPr sz="1000" b="1">
                <a:solidFill>
                  <a:srgbClr val="9CA3AF"/>
                </a:solidFill>
                <a:latin typeface="Helvetica Neue"/>
              </a:defRPr>
            </a:pPr>
            <a:r>
              <a:t>06</a:t>
            </a:r>
          </a:p>
        </p:txBody>
      </p:sp>
      <p:sp>
        <p:nvSpPr>
          <p:cNvPr id="5" name="TextBox 4"/>
          <p:cNvSpPr txBox="1"/>
          <p:nvPr/>
        </p:nvSpPr>
        <p:spPr>
          <a:xfrm>
            <a:off x="822960" y="914400"/>
            <a:ext cx="10515600" cy="914400"/>
          </a:xfrm>
          <a:prstGeom prst="rect">
            <a:avLst/>
          </a:prstGeom>
          <a:noFill/>
        </p:spPr>
        <p:txBody>
          <a:bodyPr wrap="none">
            <a:spAutoFit/>
          </a:bodyPr>
          <a:lstStyle/>
          <a:p>
            <a:pPr>
              <a:defRPr sz="2800" b="1">
                <a:solidFill>
                  <a:srgbClr val="111827"/>
                </a:solidFill>
                <a:latin typeface="Helvetica Neue"/>
              </a:defRPr>
            </a:pPr>
            <a:r>
              <a:t>Layered MVC architecture paired with dual-persistence data access.</a:t>
            </a:r>
          </a:p>
        </p:txBody>
      </p:sp>
      <p:sp>
        <p:nvSpPr>
          <p:cNvPr id="6" name="TextBox 5"/>
          <p:cNvSpPr txBox="1"/>
          <p:nvPr/>
        </p:nvSpPr>
        <p:spPr>
          <a:xfrm>
            <a:off x="822960" y="2011680"/>
            <a:ext cx="4754880" cy="4206240"/>
          </a:xfrm>
          <a:prstGeom prst="rect">
            <a:avLst/>
          </a:prstGeom>
          <a:noFill/>
        </p:spPr>
        <p:txBody>
          <a:bodyPr wrap="square">
            <a:spAutoFit/>
          </a:bodyPr>
          <a:lstStyle/>
          <a:p>
            <a:pPr>
              <a:spcAft>
                <a:spcPts val="800"/>
              </a:spcAft>
            </a:pPr>
            <a:r>
              <a:rPr sz="1100" b="1">
                <a:solidFill>
                  <a:srgbClr val="111827"/>
                </a:solidFill>
                <a:latin typeface="Helvetica Neue"/>
              </a:rPr>
              <a:t>•  Modular Blueprint Routing: </a:t>
            </a:r>
            <a:r>
              <a:rPr sz="1050">
                <a:solidFill>
                  <a:srgbClr val="4B5563"/>
                </a:solidFill>
                <a:latin typeface="Helvetica Neue"/>
              </a:rPr>
              <a:t>Divided into 6 route controllers (main, auth, cart, order, payment, admin) ensuring separation of concerns.</a:t>
            </a:r>
          </a:p>
          <a:p>
            <a:pPr>
              <a:spcAft>
                <a:spcPts val="800"/>
              </a:spcAft>
            </a:pPr>
            <a:r>
              <a:rPr sz="1100" b="1">
                <a:solidFill>
                  <a:srgbClr val="111827"/>
                </a:solidFill>
                <a:latin typeface="Helvetica Neue"/>
              </a:rPr>
              <a:t>•  Dual-Mode Data Access (database.py): </a:t>
            </a:r>
            <a:r>
              <a:rPr sz="1050">
                <a:solidFill>
                  <a:srgbClr val="4B5563"/>
                </a:solidFill>
                <a:latin typeface="Helvetica Neue"/>
              </a:rPr>
              <a:t>get_db() dynamically inspects runtime flags, serving isolated SQLite for unit tests and Turso libSQL for live production.</a:t>
            </a:r>
          </a:p>
          <a:p>
            <a:pPr>
              <a:spcAft>
                <a:spcPts val="800"/>
              </a:spcAft>
            </a:pPr>
            <a:r>
              <a:rPr sz="1100" b="1">
                <a:solidFill>
                  <a:srgbClr val="111827"/>
                </a:solidFill>
                <a:latin typeface="Helvetica Neue"/>
              </a:rPr>
              <a:t>•  Universal Row Parity (DictRow): </a:t>
            </a:r>
            <a:r>
              <a:rPr sz="1050">
                <a:solidFill>
                  <a:srgbClr val="4B5563"/>
                </a:solidFill>
                <a:latin typeface="Helvetica Neue"/>
              </a:rPr>
              <a:t>Custom wrapper enables dictionary access (row['name']) across both local and cloud cursors without rewriting queries.</a:t>
            </a:r>
          </a:p>
          <a:p>
            <a:pPr>
              <a:spcAft>
                <a:spcPts val="800"/>
              </a:spcAft>
            </a:pPr>
            <a:r>
              <a:rPr sz="1100" b="1">
                <a:solidFill>
                  <a:srgbClr val="111827"/>
                </a:solidFill>
                <a:latin typeface="Helvetica Neue"/>
              </a:rPr>
              <a:t>•  PayNova Banking State Machine: </a:t>
            </a:r>
            <a:r>
              <a:rPr sz="1050">
                <a:solidFill>
                  <a:srgbClr val="4B5563"/>
                </a:solidFill>
                <a:latin typeface="Helvetica Neue"/>
              </a:rPr>
              <a:t>Simulated gateway implementing Luhn algorithm verification, test cards, and automated refund restock hooks.</a:t>
            </a:r>
          </a:p>
          <a:p>
            <a:pPr>
              <a:spcAft>
                <a:spcPts val="800"/>
              </a:spcAft>
            </a:pPr>
            <a:r>
              <a:rPr sz="1100" b="1">
                <a:solidFill>
                  <a:srgbClr val="111827"/>
                </a:solidFill>
                <a:latin typeface="Helvetica Neue"/>
              </a:rPr>
              <a:t>•  Serverless Packaging (vercel.json): </a:t>
            </a:r>
            <a:r>
              <a:rPr sz="1050">
                <a:solidFill>
                  <a:srgbClr val="4B5563"/>
                </a:solidFill>
                <a:latin typeface="Helvetica Neue"/>
              </a:rPr>
              <a:t>config.includeFiles bundles templates, static files, and modules into AWS Lambda execution containers.</a:t>
            </a:r>
          </a:p>
        </p:txBody>
      </p:sp>
      <p:pic>
        <p:nvPicPr>
          <p:cNvPr id="7" name="Picture 6" descr="ShopSphere_System_Architecture.png"/>
          <p:cNvPicPr>
            <a:picLocks noChangeAspect="1"/>
          </p:cNvPicPr>
          <p:nvPr/>
        </p:nvPicPr>
        <p:blipFill>
          <a:blip r:embed="rId2"/>
          <a:stretch>
            <a:fillRect/>
          </a:stretch>
        </p:blipFill>
        <p:spPr>
          <a:xfrm>
            <a:off x="5943600" y="1920240"/>
            <a:ext cx="5394960" cy="4882046"/>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11480"/>
            <a:ext cx="7315200" cy="274320"/>
          </a:xfrm>
          <a:prstGeom prst="rect">
            <a:avLst/>
          </a:prstGeom>
          <a:noFill/>
        </p:spPr>
        <p:txBody>
          <a:bodyPr wrap="none" lIns="0" tIns="0" rIns="0" bIns="0">
            <a:spAutoFit/>
          </a:bodyPr>
          <a:lstStyle/>
          <a:p>
            <a:pPr>
              <a:defRPr sz="950" b="0">
                <a:solidFill>
                  <a:srgbClr val="9CA3AF"/>
                </a:solidFill>
                <a:latin typeface="Helvetica Neue"/>
              </a:defRPr>
            </a:pPr>
            <a:r>
              <a:t>ShopSphere 2026   |   Production Output</a:t>
            </a:r>
          </a:p>
        </p:txBody>
      </p:sp>
      <p:sp>
        <p:nvSpPr>
          <p:cNvPr id="4" name="TextBox 3"/>
          <p:cNvSpPr txBox="1"/>
          <p:nvPr/>
        </p:nvSpPr>
        <p:spPr>
          <a:xfrm>
            <a:off x="10972800" y="411480"/>
            <a:ext cx="457200" cy="274320"/>
          </a:xfrm>
          <a:prstGeom prst="rect">
            <a:avLst/>
          </a:prstGeom>
          <a:noFill/>
        </p:spPr>
        <p:txBody>
          <a:bodyPr wrap="none" lIns="0" tIns="0" rIns="0" bIns="0">
            <a:spAutoFit/>
          </a:bodyPr>
          <a:lstStyle/>
          <a:p>
            <a:pPr algn="r">
              <a:defRPr sz="1000" b="1">
                <a:solidFill>
                  <a:srgbClr val="9CA3AF"/>
                </a:solidFill>
                <a:latin typeface="Helvetica Neue"/>
              </a:defRPr>
            </a:pPr>
            <a:r>
              <a:t>07</a:t>
            </a:r>
          </a:p>
        </p:txBody>
      </p:sp>
      <p:sp>
        <p:nvSpPr>
          <p:cNvPr id="5" name="TextBox 4"/>
          <p:cNvSpPr txBox="1"/>
          <p:nvPr/>
        </p:nvSpPr>
        <p:spPr>
          <a:xfrm>
            <a:off x="822960" y="914400"/>
            <a:ext cx="10515600" cy="822960"/>
          </a:xfrm>
          <a:prstGeom prst="rect">
            <a:avLst/>
          </a:prstGeom>
          <a:noFill/>
        </p:spPr>
        <p:txBody>
          <a:bodyPr wrap="none">
            <a:spAutoFit/>
          </a:bodyPr>
          <a:lstStyle/>
          <a:p>
            <a:pPr>
              <a:defRPr sz="2800" b="1">
                <a:solidFill>
                  <a:srgbClr val="111827"/>
                </a:solidFill>
                <a:latin typeface="Helvetica Neue"/>
              </a:defRPr>
            </a:pPr>
            <a:r>
              <a:t>Live storefront &amp; responsive product experience.</a:t>
            </a:r>
          </a:p>
        </p:txBody>
      </p:sp>
      <p:pic>
        <p:nvPicPr>
          <p:cNvPr id="6" name="Picture 5" descr="screenshot_storefront.png"/>
          <p:cNvPicPr>
            <a:picLocks noChangeAspect="1"/>
          </p:cNvPicPr>
          <p:nvPr/>
        </p:nvPicPr>
        <p:blipFill>
          <a:blip r:embed="rId2"/>
          <a:stretch>
            <a:fillRect/>
          </a:stretch>
        </p:blipFill>
        <p:spPr>
          <a:xfrm>
            <a:off x="822960" y="1828800"/>
            <a:ext cx="5120640" cy="3200400"/>
          </a:xfrm>
          <a:prstGeom prst="rect">
            <a:avLst/>
          </a:prstGeom>
        </p:spPr>
      </p:pic>
      <p:sp>
        <p:nvSpPr>
          <p:cNvPr id="7" name="TextBox 6"/>
          <p:cNvSpPr txBox="1"/>
          <p:nvPr/>
        </p:nvSpPr>
        <p:spPr>
          <a:xfrm>
            <a:off x="822960" y="5120640"/>
            <a:ext cx="5120640" cy="320040"/>
          </a:xfrm>
          <a:prstGeom prst="rect">
            <a:avLst/>
          </a:prstGeom>
          <a:noFill/>
        </p:spPr>
        <p:txBody>
          <a:bodyPr wrap="none">
            <a:spAutoFit/>
          </a:bodyPr>
          <a:lstStyle/>
          <a:p>
            <a:pPr>
              <a:defRPr sz="1050" b="1">
                <a:solidFill>
                  <a:srgbClr val="111827"/>
                </a:solidFill>
                <a:latin typeface="Helvetica Neue"/>
              </a:defRPr>
            </a:pPr>
            <a:r>
              <a:t>Storefront Home: Curated Products, Category Chips &amp; Theme Toggle</a:t>
            </a:r>
          </a:p>
        </p:txBody>
      </p:sp>
      <p:pic>
        <p:nvPicPr>
          <p:cNvPr id="8" name="Picture 7" descr="screenshot_product.png"/>
          <p:cNvPicPr>
            <a:picLocks noChangeAspect="1"/>
          </p:cNvPicPr>
          <p:nvPr/>
        </p:nvPicPr>
        <p:blipFill>
          <a:blip r:embed="rId3"/>
          <a:stretch>
            <a:fillRect/>
          </a:stretch>
        </p:blipFill>
        <p:spPr>
          <a:xfrm>
            <a:off x="6217920" y="1828800"/>
            <a:ext cx="5120640" cy="3200400"/>
          </a:xfrm>
          <a:prstGeom prst="rect">
            <a:avLst/>
          </a:prstGeom>
        </p:spPr>
      </p:pic>
      <p:sp>
        <p:nvSpPr>
          <p:cNvPr id="9" name="TextBox 8"/>
          <p:cNvSpPr txBox="1"/>
          <p:nvPr/>
        </p:nvSpPr>
        <p:spPr>
          <a:xfrm>
            <a:off x="6217920" y="5120640"/>
            <a:ext cx="5120640" cy="320040"/>
          </a:xfrm>
          <a:prstGeom prst="rect">
            <a:avLst/>
          </a:prstGeom>
          <a:noFill/>
        </p:spPr>
        <p:txBody>
          <a:bodyPr wrap="none">
            <a:spAutoFit/>
          </a:bodyPr>
          <a:lstStyle/>
          <a:p>
            <a:pPr>
              <a:defRPr sz="1050" b="1">
                <a:solidFill>
                  <a:srgbClr val="111827"/>
                </a:solidFill>
                <a:latin typeface="Helvetica Neue"/>
              </a:defRPr>
            </a:pPr>
            <a:r>
              <a:t>Product Detail View: Dynamic Pricing, Stock Alerts &amp; Add to Cart</a:t>
            </a:r>
          </a:p>
        </p:txBody>
      </p:sp>
      <p:sp>
        <p:nvSpPr>
          <p:cNvPr id="10" name="TextBox 9"/>
          <p:cNvSpPr txBox="1"/>
          <p:nvPr/>
        </p:nvSpPr>
        <p:spPr>
          <a:xfrm>
            <a:off x="822960" y="5669280"/>
            <a:ext cx="10515600" cy="365760"/>
          </a:xfrm>
          <a:prstGeom prst="rect">
            <a:avLst/>
          </a:prstGeom>
          <a:noFill/>
        </p:spPr>
        <p:txBody>
          <a:bodyPr wrap="none">
            <a:spAutoFit/>
          </a:bodyPr>
          <a:lstStyle/>
          <a:p>
            <a:r>
              <a:rPr sz="1000" b="1">
                <a:solidFill>
                  <a:srgbClr val="EA580C"/>
                </a:solidFill>
                <a:latin typeface="Helvetica Neue"/>
              </a:rPr>
              <a:t>LIVE DEPLOYMENT:   </a:t>
            </a:r>
            <a:r>
              <a:rPr sz="1050">
                <a:solidFill>
                  <a:srgbClr val="9CA3AF"/>
                </a:solidFill>
                <a:latin typeface="Helvetica Neue"/>
              </a:rPr>
              <a:t>https://shop-sphere-black-omega.vercel.app      •      Cloud DB: Turso libSQL (AWS Mumbai)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11480"/>
            <a:ext cx="7315200" cy="274320"/>
          </a:xfrm>
          <a:prstGeom prst="rect">
            <a:avLst/>
          </a:prstGeom>
          <a:noFill/>
        </p:spPr>
        <p:txBody>
          <a:bodyPr wrap="none" lIns="0" tIns="0" rIns="0" bIns="0">
            <a:spAutoFit/>
          </a:bodyPr>
          <a:lstStyle/>
          <a:p>
            <a:pPr>
              <a:defRPr sz="950" b="0">
                <a:solidFill>
                  <a:srgbClr val="9CA3AF"/>
                </a:solidFill>
                <a:latin typeface="Helvetica Neue"/>
              </a:defRPr>
            </a:pPr>
            <a:r>
              <a:t>ShopSphere 2026   |   Conclusion</a:t>
            </a:r>
          </a:p>
        </p:txBody>
      </p:sp>
      <p:sp>
        <p:nvSpPr>
          <p:cNvPr id="4" name="TextBox 3"/>
          <p:cNvSpPr txBox="1"/>
          <p:nvPr/>
        </p:nvSpPr>
        <p:spPr>
          <a:xfrm>
            <a:off x="10972800" y="411480"/>
            <a:ext cx="457200" cy="274320"/>
          </a:xfrm>
          <a:prstGeom prst="rect">
            <a:avLst/>
          </a:prstGeom>
          <a:noFill/>
        </p:spPr>
        <p:txBody>
          <a:bodyPr wrap="none" lIns="0" tIns="0" rIns="0" bIns="0">
            <a:spAutoFit/>
          </a:bodyPr>
          <a:lstStyle/>
          <a:p>
            <a:pPr algn="r">
              <a:defRPr sz="1000" b="1">
                <a:solidFill>
                  <a:srgbClr val="9CA3AF"/>
                </a:solidFill>
                <a:latin typeface="Helvetica Neue"/>
              </a:defRPr>
            </a:pPr>
            <a:r>
              <a:t>08</a:t>
            </a:r>
          </a:p>
        </p:txBody>
      </p:sp>
      <p:sp>
        <p:nvSpPr>
          <p:cNvPr id="5" name="TextBox 4"/>
          <p:cNvSpPr txBox="1"/>
          <p:nvPr/>
        </p:nvSpPr>
        <p:spPr>
          <a:xfrm>
            <a:off x="822960" y="914400"/>
            <a:ext cx="10515600" cy="914400"/>
          </a:xfrm>
          <a:prstGeom prst="rect">
            <a:avLst/>
          </a:prstGeom>
          <a:noFill/>
        </p:spPr>
        <p:txBody>
          <a:bodyPr wrap="none">
            <a:spAutoFit/>
          </a:bodyPr>
          <a:lstStyle/>
          <a:p>
            <a:pPr>
              <a:defRPr sz="2800" b="1">
                <a:solidFill>
                  <a:srgbClr val="111827"/>
                </a:solidFill>
                <a:latin typeface="Helvetica Neue"/>
              </a:defRPr>
            </a:pPr>
            <a:r>
              <a:t>Reliability achieved through architectural simplicity and test-driven engineering.</a:t>
            </a:r>
          </a:p>
        </p:txBody>
      </p:sp>
      <p:sp>
        <p:nvSpPr>
          <p:cNvPr id="6" name="TextBox 5"/>
          <p:cNvSpPr txBox="1"/>
          <p:nvPr/>
        </p:nvSpPr>
        <p:spPr>
          <a:xfrm>
            <a:off x="822960" y="2011680"/>
            <a:ext cx="10515600" cy="914400"/>
          </a:xfrm>
          <a:prstGeom prst="rect">
            <a:avLst/>
          </a:prstGeom>
          <a:noFill/>
        </p:spPr>
        <p:txBody>
          <a:bodyPr wrap="square">
            <a:spAutoFit/>
          </a:bodyPr>
          <a:lstStyle/>
          <a:p>
            <a:r>
              <a:rPr sz="1250" b="1">
                <a:solidFill>
                  <a:srgbClr val="111827"/>
                </a:solidFill>
                <a:latin typeface="Helvetica Neue"/>
              </a:rPr>
              <a:t>01   Serverless Persistence Verified  —  </a:t>
            </a:r>
            <a:r>
              <a:rPr sz="1150">
                <a:solidFill>
                  <a:srgbClr val="4B5563"/>
                </a:solidFill>
                <a:latin typeface="Helvetica Neue"/>
              </a:rPr>
              <a:t>Proved that lightweight Python/Flask applications can overcome serverless ephemeral file restrictions by dynamically routing queries to Turso Cloud libSQL without altering standard SQLite semantics.</a:t>
            </a:r>
          </a:p>
        </p:txBody>
      </p:sp>
      <p:sp>
        <p:nvSpPr>
          <p:cNvPr id="7" name="TextBox 6"/>
          <p:cNvSpPr txBox="1"/>
          <p:nvPr/>
        </p:nvSpPr>
        <p:spPr>
          <a:xfrm>
            <a:off x="822960" y="3063240"/>
            <a:ext cx="10515600" cy="914400"/>
          </a:xfrm>
          <a:prstGeom prst="rect">
            <a:avLst/>
          </a:prstGeom>
          <a:noFill/>
        </p:spPr>
        <p:txBody>
          <a:bodyPr wrap="square">
            <a:spAutoFit/>
          </a:bodyPr>
          <a:lstStyle/>
          <a:p>
            <a:r>
              <a:rPr sz="1250" b="1">
                <a:solidFill>
                  <a:srgbClr val="111827"/>
                </a:solidFill>
                <a:latin typeface="Helvetica Neue"/>
              </a:rPr>
              <a:t>02   High-Fidelity Banking Simulation  —  </a:t>
            </a:r>
            <a:r>
              <a:rPr sz="1150">
                <a:solidFill>
                  <a:srgbClr val="4B5563"/>
                </a:solidFill>
                <a:latin typeface="Helvetica Neue"/>
              </a:rPr>
              <a:t>Engineered the PayNova payment engine to faithfully simulate real-world financial gateways (Luhn MOD 10 validation, network classification, OTP challenge, and restock reconciliation).</a:t>
            </a:r>
          </a:p>
        </p:txBody>
      </p:sp>
      <p:sp>
        <p:nvSpPr>
          <p:cNvPr id="8" name="TextBox 7"/>
          <p:cNvSpPr txBox="1"/>
          <p:nvPr/>
        </p:nvSpPr>
        <p:spPr>
          <a:xfrm>
            <a:off x="822960" y="4114800"/>
            <a:ext cx="10515600" cy="914400"/>
          </a:xfrm>
          <a:prstGeom prst="rect">
            <a:avLst/>
          </a:prstGeom>
          <a:noFill/>
        </p:spPr>
        <p:txBody>
          <a:bodyPr wrap="square">
            <a:spAutoFit/>
          </a:bodyPr>
          <a:lstStyle/>
          <a:p>
            <a:r>
              <a:rPr sz="1250" b="1">
                <a:solidFill>
                  <a:srgbClr val="111827"/>
                </a:solidFill>
                <a:latin typeface="Helvetica Neue"/>
              </a:rPr>
              <a:t>03   100% Test-Driven Quality  —  </a:t>
            </a:r>
            <a:r>
              <a:rPr sz="1150">
                <a:solidFill>
                  <a:srgbClr val="4B5563"/>
                </a:solidFill>
                <a:latin typeface="Helvetica Neue"/>
              </a:rPr>
              <a:t>Constructed and validated an automated test suite of 71 unit and integration tests executing in under 25 seconds, completely eliminating regression risks across all 6 core blueprints.</a:t>
            </a:r>
          </a:p>
        </p:txBody>
      </p:sp>
      <p:sp>
        <p:nvSpPr>
          <p:cNvPr id="9" name="TextBox 8"/>
          <p:cNvSpPr txBox="1"/>
          <p:nvPr/>
        </p:nvSpPr>
        <p:spPr>
          <a:xfrm>
            <a:off x="822960" y="5166360"/>
            <a:ext cx="10515600" cy="914400"/>
          </a:xfrm>
          <a:prstGeom prst="rect">
            <a:avLst/>
          </a:prstGeom>
          <a:noFill/>
        </p:spPr>
        <p:txBody>
          <a:bodyPr wrap="square">
            <a:spAutoFit/>
          </a:bodyPr>
          <a:lstStyle/>
          <a:p>
            <a:r>
              <a:rPr sz="1250" b="1">
                <a:solidFill>
                  <a:srgbClr val="111827"/>
                </a:solidFill>
                <a:latin typeface="Helvetica Neue"/>
              </a:rPr>
              <a:t>04   Zero Infrastructure Overhead  —  </a:t>
            </a:r>
            <a:r>
              <a:rPr sz="1150">
                <a:solidFill>
                  <a:srgbClr val="4B5563"/>
                </a:solidFill>
                <a:latin typeface="Helvetica Neue"/>
              </a:rPr>
              <a:t>Achieved full production deployment on Vercel Serverless Functions paired with Turso on AWS Mumbai, delivering sub-second response times at zero recurring hosting cost.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11480"/>
            <a:ext cx="7315200" cy="274320"/>
          </a:xfrm>
          <a:prstGeom prst="rect">
            <a:avLst/>
          </a:prstGeom>
          <a:noFill/>
        </p:spPr>
        <p:txBody>
          <a:bodyPr wrap="none" lIns="0" tIns="0" rIns="0" bIns="0">
            <a:spAutoFit/>
          </a:bodyPr>
          <a:lstStyle/>
          <a:p>
            <a:pPr>
              <a:defRPr sz="950" b="0">
                <a:solidFill>
                  <a:srgbClr val="9CA3AF"/>
                </a:solidFill>
                <a:latin typeface="Helvetica Neue"/>
              </a:defRPr>
            </a:pPr>
            <a:r>
              <a:t>ShopSphere 2026   |   Future Scope</a:t>
            </a:r>
          </a:p>
        </p:txBody>
      </p:sp>
      <p:sp>
        <p:nvSpPr>
          <p:cNvPr id="4" name="TextBox 3"/>
          <p:cNvSpPr txBox="1"/>
          <p:nvPr/>
        </p:nvSpPr>
        <p:spPr>
          <a:xfrm>
            <a:off x="10972800" y="411480"/>
            <a:ext cx="457200" cy="274320"/>
          </a:xfrm>
          <a:prstGeom prst="rect">
            <a:avLst/>
          </a:prstGeom>
          <a:noFill/>
        </p:spPr>
        <p:txBody>
          <a:bodyPr wrap="none" lIns="0" tIns="0" rIns="0" bIns="0">
            <a:spAutoFit/>
          </a:bodyPr>
          <a:lstStyle/>
          <a:p>
            <a:pPr algn="r">
              <a:defRPr sz="1000" b="1">
                <a:solidFill>
                  <a:srgbClr val="9CA3AF"/>
                </a:solidFill>
                <a:latin typeface="Helvetica Neue"/>
              </a:defRPr>
            </a:pPr>
            <a:r>
              <a:t>09</a:t>
            </a:r>
          </a:p>
        </p:txBody>
      </p:sp>
      <p:sp>
        <p:nvSpPr>
          <p:cNvPr id="5" name="TextBox 4"/>
          <p:cNvSpPr txBox="1"/>
          <p:nvPr/>
        </p:nvSpPr>
        <p:spPr>
          <a:xfrm>
            <a:off x="822960" y="914400"/>
            <a:ext cx="10515600" cy="914400"/>
          </a:xfrm>
          <a:prstGeom prst="rect">
            <a:avLst/>
          </a:prstGeom>
          <a:noFill/>
        </p:spPr>
        <p:txBody>
          <a:bodyPr wrap="none">
            <a:spAutoFit/>
          </a:bodyPr>
          <a:lstStyle/>
          <a:p>
            <a:pPr>
              <a:defRPr sz="2800" b="1">
                <a:solidFill>
                  <a:srgbClr val="111827"/>
                </a:solidFill>
                <a:latin typeface="Helvetica Neue"/>
              </a:defRPr>
            </a:pPr>
            <a:r>
              <a:t>Scaling toward microservices, real-time tracking, and intelligent commerce.</a:t>
            </a:r>
          </a:p>
        </p:txBody>
      </p:sp>
      <p:sp>
        <p:nvSpPr>
          <p:cNvPr id="6" name="TextBox 5"/>
          <p:cNvSpPr txBox="1"/>
          <p:nvPr/>
        </p:nvSpPr>
        <p:spPr>
          <a:xfrm>
            <a:off x="822960" y="2011680"/>
            <a:ext cx="10515600" cy="777240"/>
          </a:xfrm>
          <a:prstGeom prst="rect">
            <a:avLst/>
          </a:prstGeom>
          <a:noFill/>
        </p:spPr>
        <p:txBody>
          <a:bodyPr wrap="square">
            <a:spAutoFit/>
          </a:bodyPr>
          <a:lstStyle/>
          <a:p>
            <a:r>
              <a:rPr sz="1200" b="1">
                <a:solidFill>
                  <a:srgbClr val="111827"/>
                </a:solidFill>
                <a:latin typeface="Helvetica Neue"/>
              </a:rPr>
              <a:t>01   Live Payment Gateway Webhooks  —  </a:t>
            </a:r>
            <a:r>
              <a:rPr sz="1100">
                <a:solidFill>
                  <a:srgbClr val="4B5563"/>
                </a:solidFill>
                <a:latin typeface="Helvetica Neue"/>
              </a:rPr>
              <a:t>Integrate live webhook endpoints for enterprise payment gateways (Razorpay, Stripe, Cashfree) to operate in tandem with the PayNova simulation engine.</a:t>
            </a:r>
          </a:p>
        </p:txBody>
      </p:sp>
      <p:sp>
        <p:nvSpPr>
          <p:cNvPr id="7" name="TextBox 6"/>
          <p:cNvSpPr txBox="1"/>
          <p:nvPr/>
        </p:nvSpPr>
        <p:spPr>
          <a:xfrm>
            <a:off x="822960" y="2880360"/>
            <a:ext cx="10515600" cy="777240"/>
          </a:xfrm>
          <a:prstGeom prst="rect">
            <a:avLst/>
          </a:prstGeom>
          <a:noFill/>
        </p:spPr>
        <p:txBody>
          <a:bodyPr wrap="square">
            <a:spAutoFit/>
          </a:bodyPr>
          <a:lstStyle/>
          <a:p>
            <a:r>
              <a:rPr sz="1200" b="1">
                <a:solidFill>
                  <a:srgbClr val="111827"/>
                </a:solidFill>
                <a:latin typeface="Helvetica Neue"/>
              </a:rPr>
              <a:t>02   Microservices Decomposition  —  </a:t>
            </a:r>
            <a:r>
              <a:rPr sz="1100">
                <a:solidFill>
                  <a:srgbClr val="4B5563"/>
                </a:solidFill>
                <a:latin typeface="Helvetica Neue"/>
              </a:rPr>
              <a:t>Transition monolithic Flask blueprints into containerized microservices (Catalog, Cart, Payment, Notification) coordinated via Apache Kafka.</a:t>
            </a:r>
          </a:p>
        </p:txBody>
      </p:sp>
      <p:sp>
        <p:nvSpPr>
          <p:cNvPr id="8" name="TextBox 7"/>
          <p:cNvSpPr txBox="1"/>
          <p:nvPr/>
        </p:nvSpPr>
        <p:spPr>
          <a:xfrm>
            <a:off x="822960" y="3749040"/>
            <a:ext cx="10515600" cy="777240"/>
          </a:xfrm>
          <a:prstGeom prst="rect">
            <a:avLst/>
          </a:prstGeom>
          <a:noFill/>
        </p:spPr>
        <p:txBody>
          <a:bodyPr wrap="square">
            <a:spAutoFit/>
          </a:bodyPr>
          <a:lstStyle/>
          <a:p>
            <a:r>
              <a:rPr sz="1200" b="1">
                <a:solidFill>
                  <a:srgbClr val="111827"/>
                </a:solidFill>
                <a:latin typeface="Helvetica Neue"/>
              </a:rPr>
              <a:t>03   AI Recommendation Engine  —  </a:t>
            </a:r>
            <a:r>
              <a:rPr sz="1100">
                <a:solidFill>
                  <a:srgbClr val="4B5563"/>
                </a:solidFill>
                <a:latin typeface="Helvetica Neue"/>
              </a:rPr>
              <a:t>Incorporate collaborative filtering algorithms and natural language embeddings to generate personalized product recommendations ('Frequently bought together').</a:t>
            </a:r>
          </a:p>
        </p:txBody>
      </p:sp>
      <p:sp>
        <p:nvSpPr>
          <p:cNvPr id="9" name="TextBox 8"/>
          <p:cNvSpPr txBox="1"/>
          <p:nvPr/>
        </p:nvSpPr>
        <p:spPr>
          <a:xfrm>
            <a:off x="822960" y="4617720"/>
            <a:ext cx="10515600" cy="777240"/>
          </a:xfrm>
          <a:prstGeom prst="rect">
            <a:avLst/>
          </a:prstGeom>
          <a:noFill/>
        </p:spPr>
        <p:txBody>
          <a:bodyPr wrap="square">
            <a:spAutoFit/>
          </a:bodyPr>
          <a:lstStyle/>
          <a:p>
            <a:r>
              <a:rPr sz="1200" b="1">
                <a:solidFill>
                  <a:srgbClr val="111827"/>
                </a:solidFill>
                <a:latin typeface="Helvetica Neue"/>
              </a:rPr>
              <a:t>04   Real-Time WebSocket Order Tracking  —  </a:t>
            </a:r>
            <a:r>
              <a:rPr sz="1100">
                <a:solidFill>
                  <a:srgbClr val="4B5563"/>
                </a:solidFill>
                <a:latin typeface="Helvetica Neue"/>
              </a:rPr>
              <a:t>Implement WebSockets or Server-Sent Events (SSE) to push live GPS driver locations and fulfillment state updates directly to customer dashboards.</a:t>
            </a:r>
          </a:p>
        </p:txBody>
      </p:sp>
      <p:sp>
        <p:nvSpPr>
          <p:cNvPr id="10" name="TextBox 9"/>
          <p:cNvSpPr txBox="1"/>
          <p:nvPr/>
        </p:nvSpPr>
        <p:spPr>
          <a:xfrm>
            <a:off x="822960" y="5486400"/>
            <a:ext cx="10515600" cy="777240"/>
          </a:xfrm>
          <a:prstGeom prst="rect">
            <a:avLst/>
          </a:prstGeom>
          <a:noFill/>
        </p:spPr>
        <p:txBody>
          <a:bodyPr wrap="square">
            <a:spAutoFit/>
          </a:bodyPr>
          <a:lstStyle/>
          <a:p>
            <a:r>
              <a:rPr sz="1200" b="1">
                <a:solidFill>
                  <a:srgbClr val="111827"/>
                </a:solidFill>
                <a:latin typeface="Helvetica Neue"/>
              </a:rPr>
              <a:t>05   Multi-Vendor Marketplace Expansion  —  </a:t>
            </a:r>
            <a:r>
              <a:rPr sz="1100">
                <a:solidFill>
                  <a:srgbClr val="4B5563"/>
                </a:solidFill>
                <a:latin typeface="Helvetica Neue"/>
              </a:rPr>
              <a:t>Expand relational schemas to support third-party merchant registration, independent inventory management, commission calculations, and seller analytics.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11480"/>
            <a:ext cx="7315200" cy="274320"/>
          </a:xfrm>
          <a:prstGeom prst="rect">
            <a:avLst/>
          </a:prstGeom>
          <a:noFill/>
        </p:spPr>
        <p:txBody>
          <a:bodyPr wrap="none" lIns="0" tIns="0" rIns="0" bIns="0">
            <a:spAutoFit/>
          </a:bodyPr>
          <a:lstStyle/>
          <a:p>
            <a:pPr>
              <a:defRPr sz="950" b="0">
                <a:solidFill>
                  <a:srgbClr val="9CA3AF"/>
                </a:solidFill>
                <a:latin typeface="Helvetica Neue"/>
              </a:defRPr>
            </a:pPr>
            <a:r>
              <a:t>ShopSphere 2026   |   References</a:t>
            </a:r>
          </a:p>
        </p:txBody>
      </p:sp>
      <p:sp>
        <p:nvSpPr>
          <p:cNvPr id="4" name="TextBox 3"/>
          <p:cNvSpPr txBox="1"/>
          <p:nvPr/>
        </p:nvSpPr>
        <p:spPr>
          <a:xfrm>
            <a:off x="10972800" y="411480"/>
            <a:ext cx="457200" cy="274320"/>
          </a:xfrm>
          <a:prstGeom prst="rect">
            <a:avLst/>
          </a:prstGeom>
          <a:noFill/>
        </p:spPr>
        <p:txBody>
          <a:bodyPr wrap="none" lIns="0" tIns="0" rIns="0" bIns="0">
            <a:spAutoFit/>
          </a:bodyPr>
          <a:lstStyle/>
          <a:p>
            <a:pPr algn="r">
              <a:defRPr sz="1000" b="1">
                <a:solidFill>
                  <a:srgbClr val="9CA3AF"/>
                </a:solidFill>
                <a:latin typeface="Helvetica Neue"/>
              </a:defRPr>
            </a:pPr>
            <a:r>
              <a:t>10</a:t>
            </a:r>
          </a:p>
        </p:txBody>
      </p:sp>
      <p:sp>
        <p:nvSpPr>
          <p:cNvPr id="5" name="TextBox 4"/>
          <p:cNvSpPr txBox="1"/>
          <p:nvPr/>
        </p:nvSpPr>
        <p:spPr>
          <a:xfrm>
            <a:off x="822960" y="914400"/>
            <a:ext cx="10515600" cy="914400"/>
          </a:xfrm>
          <a:prstGeom prst="rect">
            <a:avLst/>
          </a:prstGeom>
          <a:noFill/>
        </p:spPr>
        <p:txBody>
          <a:bodyPr wrap="none">
            <a:spAutoFit/>
          </a:bodyPr>
          <a:lstStyle/>
          <a:p>
            <a:pPr>
              <a:defRPr sz="2800" b="1">
                <a:solidFill>
                  <a:srgbClr val="111827"/>
                </a:solidFill>
                <a:latin typeface="Helvetica Neue"/>
              </a:defRPr>
            </a:pPr>
            <a:r>
              <a:t>Academic literature and industry specifications.</a:t>
            </a:r>
          </a:p>
        </p:txBody>
      </p:sp>
      <p:sp>
        <p:nvSpPr>
          <p:cNvPr id="6" name="TextBox 5"/>
          <p:cNvSpPr txBox="1"/>
          <p:nvPr/>
        </p:nvSpPr>
        <p:spPr>
          <a:xfrm>
            <a:off x="822960" y="2103120"/>
            <a:ext cx="5029200" cy="4114800"/>
          </a:xfrm>
          <a:prstGeom prst="rect">
            <a:avLst/>
          </a:prstGeom>
          <a:noFill/>
        </p:spPr>
        <p:txBody>
          <a:bodyPr wrap="square">
            <a:spAutoFit/>
          </a:bodyPr>
          <a:lstStyle/>
          <a:p>
            <a:pPr>
              <a:spcAft>
                <a:spcPts val="1000"/>
              </a:spcAft>
            </a:pPr>
            <a:r>
              <a:rPr sz="1000" b="1">
                <a:solidFill>
                  <a:srgbClr val="EA580C"/>
                </a:solidFill>
                <a:latin typeface="Helvetica Neue"/>
              </a:rPr>
              <a:t>[01]  </a:t>
            </a:r>
            <a:r>
              <a:rPr sz="1050">
                <a:solidFill>
                  <a:srgbClr val="4B5563"/>
                </a:solidFill>
                <a:latin typeface="Helvetica Neue"/>
              </a:rPr>
              <a:t>Grinberg, M. (2018). Flask Web Development: Developing Web Applications with Python. 2nd Edition. O'Reilly Media.</a:t>
            </a:r>
          </a:p>
          <a:p>
            <a:pPr>
              <a:spcAft>
                <a:spcPts val="1000"/>
              </a:spcAft>
            </a:pPr>
            <a:r>
              <a:rPr sz="1000" b="1">
                <a:solidFill>
                  <a:srgbClr val="EA580C"/>
                </a:solidFill>
                <a:latin typeface="Helvetica Neue"/>
              </a:rPr>
              <a:t>[02]  </a:t>
            </a:r>
            <a:r>
              <a:rPr sz="1050">
                <a:solidFill>
                  <a:srgbClr val="4B5563"/>
                </a:solidFill>
                <a:latin typeface="Helvetica Neue"/>
              </a:rPr>
              <a:t>Owens, M., &amp; Allen, G. (2010). The Definitive Guide to SQLite. 2nd Edition. Apress.</a:t>
            </a:r>
          </a:p>
          <a:p>
            <a:pPr>
              <a:spcAft>
                <a:spcPts val="1000"/>
              </a:spcAft>
            </a:pPr>
            <a:r>
              <a:rPr sz="1000" b="1">
                <a:solidFill>
                  <a:srgbClr val="EA580C"/>
                </a:solidFill>
                <a:latin typeface="Helvetica Neue"/>
              </a:rPr>
              <a:t>[03]  </a:t>
            </a:r>
            <a:r>
              <a:rPr sz="1050">
                <a:solidFill>
                  <a:srgbClr val="4B5563"/>
                </a:solidFill>
                <a:latin typeface="Helvetica Neue"/>
              </a:rPr>
              <a:t>Vercel Foundation (2026). Serverless Functions with Python on Vercel. https://vercel.com/docs/functions/runtimes/python</a:t>
            </a:r>
          </a:p>
          <a:p>
            <a:pPr>
              <a:spcAft>
                <a:spcPts val="1000"/>
              </a:spcAft>
            </a:pPr>
            <a:r>
              <a:rPr sz="1000" b="1">
                <a:solidFill>
                  <a:srgbClr val="EA580C"/>
                </a:solidFill>
                <a:latin typeface="Helvetica Neue"/>
              </a:rPr>
              <a:t>[04]  </a:t>
            </a:r>
            <a:r>
              <a:rPr sz="1050">
                <a:solidFill>
                  <a:srgbClr val="4B5563"/>
                </a:solidFill>
                <a:latin typeface="Helvetica Neue"/>
              </a:rPr>
              <a:t>Turso / libSQL Foundation (2026). libSQL: An Open-Source Fork of SQLite for Serverless. https://docs.turso.tech/</a:t>
            </a:r>
          </a:p>
          <a:p>
            <a:pPr>
              <a:spcAft>
                <a:spcPts val="1000"/>
              </a:spcAft>
            </a:pPr>
            <a:r>
              <a:rPr sz="1000" b="1">
                <a:solidFill>
                  <a:srgbClr val="EA580C"/>
                </a:solidFill>
                <a:latin typeface="Helvetica Neue"/>
              </a:rPr>
              <a:t>[05]  </a:t>
            </a:r>
            <a:r>
              <a:rPr sz="1050">
                <a:solidFill>
                  <a:srgbClr val="4B5563"/>
                </a:solidFill>
                <a:latin typeface="Helvetica Neue"/>
              </a:rPr>
              <a:t>Jones, M., Bradley, J., &amp; Sakimura, N. (2015). RFC 7519: JSON Web Token (JWT). IETF.</a:t>
            </a:r>
          </a:p>
        </p:txBody>
      </p:sp>
      <p:sp>
        <p:nvSpPr>
          <p:cNvPr id="7" name="TextBox 6"/>
          <p:cNvSpPr txBox="1"/>
          <p:nvPr/>
        </p:nvSpPr>
        <p:spPr>
          <a:xfrm>
            <a:off x="6217920" y="2103120"/>
            <a:ext cx="5120640" cy="4114800"/>
          </a:xfrm>
          <a:prstGeom prst="rect">
            <a:avLst/>
          </a:prstGeom>
          <a:noFill/>
        </p:spPr>
        <p:txBody>
          <a:bodyPr wrap="square">
            <a:spAutoFit/>
          </a:bodyPr>
          <a:lstStyle/>
          <a:p>
            <a:pPr>
              <a:spcAft>
                <a:spcPts val="1000"/>
              </a:spcAft>
            </a:pPr>
            <a:r>
              <a:rPr sz="1000" b="1">
                <a:solidFill>
                  <a:srgbClr val="EA580C"/>
                </a:solidFill>
                <a:latin typeface="Helvetica Neue"/>
              </a:rPr>
              <a:t>[06]  </a:t>
            </a:r>
            <a:r>
              <a:rPr sz="1050">
                <a:solidFill>
                  <a:srgbClr val="4B5563"/>
                </a:solidFill>
                <a:latin typeface="Helvetica Neue"/>
              </a:rPr>
              <a:t>Luhn, H. P. (1960). Computer for Verifying Numbers (Luhn Checksum Algorithm). U.S. Patent No. 2,950,048.</a:t>
            </a:r>
          </a:p>
          <a:p>
            <a:pPr>
              <a:spcAft>
                <a:spcPts val="1000"/>
              </a:spcAft>
            </a:pPr>
            <a:r>
              <a:rPr sz="1000" b="1">
                <a:solidFill>
                  <a:srgbClr val="EA580C"/>
                </a:solidFill>
                <a:latin typeface="Helvetica Neue"/>
              </a:rPr>
              <a:t>[07]  </a:t>
            </a:r>
            <a:r>
              <a:rPr sz="1050">
                <a:solidFill>
                  <a:srgbClr val="4B5563"/>
                </a:solidFill>
                <a:latin typeface="Helvetica Neue"/>
              </a:rPr>
              <a:t>Pallets Projects (2024). Werkzeug: The Comprehensive WSGI Web Application Library. https://palletsprojects.com/p/werkzeug/</a:t>
            </a:r>
          </a:p>
          <a:p>
            <a:pPr>
              <a:spcAft>
                <a:spcPts val="1000"/>
              </a:spcAft>
            </a:pPr>
            <a:r>
              <a:rPr sz="1000" b="1">
                <a:solidFill>
                  <a:srgbClr val="EA580C"/>
                </a:solidFill>
                <a:latin typeface="Helvetica Neue"/>
              </a:rPr>
              <a:t>[08]  </a:t>
            </a:r>
            <a:r>
              <a:rPr sz="1050">
                <a:solidFill>
                  <a:srgbClr val="4B5563"/>
                </a:solidFill>
                <a:latin typeface="Helvetica Neue"/>
              </a:rPr>
              <a:t>Conventional Commits Specification (2024). Conventional Commits 1.0.0 for Git Versioning. https://www.conventionalcommits.org/</a:t>
            </a:r>
          </a:p>
          <a:p>
            <a:pPr>
              <a:spcAft>
                <a:spcPts val="1000"/>
              </a:spcAft>
            </a:pPr>
            <a:r>
              <a:rPr sz="1000" b="1">
                <a:solidFill>
                  <a:srgbClr val="EA580C"/>
                </a:solidFill>
                <a:latin typeface="Helvetica Neue"/>
              </a:rPr>
              <a:t>[09]  </a:t>
            </a:r>
            <a:r>
              <a:rPr sz="1050">
                <a:solidFill>
                  <a:srgbClr val="4B5563"/>
                </a:solidFill>
                <a:latin typeface="Helvetica Neue"/>
              </a:rPr>
              <a:t>Mozilla Developer Network (MDN) (2026). CSS Custom Properties (Variables) &amp; Semantic HTML.</a:t>
            </a:r>
          </a:p>
          <a:p>
            <a:pPr>
              <a:spcAft>
                <a:spcPts val="1000"/>
              </a:spcAft>
            </a:pPr>
            <a:r>
              <a:rPr sz="1000" b="1">
                <a:solidFill>
                  <a:srgbClr val="EA580C"/>
                </a:solidFill>
                <a:latin typeface="Helvetica Neue"/>
              </a:rPr>
              <a:t>[10]  </a:t>
            </a:r>
            <a:r>
              <a:rPr sz="1050">
                <a:solidFill>
                  <a:srgbClr val="4B5563"/>
                </a:solidFill>
                <a:latin typeface="Helvetica Neue"/>
              </a:rPr>
              <a:t>Lucide Project (2026). Lucide Icons: Consistent &amp; Beautiful Open-Source SVG Icons. https://lucide.dev/</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